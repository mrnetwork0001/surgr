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Surgr is a real-time closed-loop safety copilot for the operating room, built for the AssemblyAI Voice Agent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Drugs are ordered by voice. Closed-loop communication is the standard but depends on people. One in twenty administrations involves an error; two thirds of sentinel events involve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listen, understand, intervene, document. The spoken alert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cockpit exists for the circulating nurse, the debrief and the audit. Alerts are spoken. Nine scripted scenarios let a judge trigger a wrong dose without an operating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Agent listens to the room continuously. Say its name and it answers from live state through JSON-schema tools; everything else is answered with silence and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record writes itself. Facts and timestamps come from Surgr's state; the LLM writes narrative only. Delivered as PDF, Telegram, email, share sheet, or spoken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AssemblyAI products in one loop: Streaming v3 with medical mode and speaker labels, LLM Gateway, Voice Agent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was tested against the live services: streaming, the Voice Agent with tool calling, and a real microphone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anesthesiologist gains the most: a second check before the syringe goes in. Surgeons, nurses, the quality office and the patient all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Priced per operating room. Beachhead is simulation centres and residency programmes where no regulatory clearance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Scribes document after the fact, black-box products review retrospectively, checklist apps need taps. Surgr intervenes in the moment with a deterministic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training, silent analytics, live intervention after validation. Plain about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Aviation cockpits have mandatory read-backs and a voice recorder. Operating rooms have neither. Surgr gives them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01</a:t>
            </a:r>
            <a:endParaRPr lang="en-US" sz="1000" dirty="0"/>
          </a:p>
        </p:txBody>
      </p:sp>
      <p:sp>
        <p:nvSpPr>
          <p:cNvPr id="5" name="Text 1"/>
          <p:cNvSpPr txBox="1"/>
          <p:nvPr/>
        </p:nvSpPr>
        <p:spPr>
          <a:xfrm>
            <a:off x="548640" y="1828800"/>
            <a:ext cx="10515600" cy="2011680"/>
          </a:xfrm>
          <a:prstGeom prst="rect">
            <a:avLst/>
          </a:prstGeom>
          <a:noFill/>
          <a:ln/>
        </p:spPr>
        <p:txBody>
          <a:bodyPr wrap="square" lIns="0" tIns="0" rIns="0" bIns="0" rtlCol="0" anchor="t">
            <a:normAutofit/>
          </a:bodyPr>
          <a:lstStyle/>
          <a:p>
            <a:pPr indent="0" marL="0">
              <a:buNone/>
            </a:pPr>
            <a:r>
              <a:rPr lang="en-US" sz="5800" i="1" dirty="0">
                <a:solidFill>
                  <a:srgbClr val="FFFFFF"/>
                </a:solidFill>
                <a:latin typeface="Cambria" pitchFamily="34" charset="0"/>
                <a:ea typeface="Cambria" pitchFamily="34" charset="-122"/>
                <a:cs typeface="Cambria" pitchFamily="34" charset="-120"/>
              </a:rPr>
              <a:t>Every verbal order in the OR, </a:t>
            </a:r>
            <a:pPr indent="0" marL="0">
              <a:buNone/>
            </a:pPr>
            <a:r>
              <a:rPr lang="en-US" sz="5800" i="1" dirty="0">
                <a:solidFill>
                  <a:srgbClr val="2DD4BF"/>
                </a:solidFill>
                <a:latin typeface="Cambria" pitchFamily="34" charset="0"/>
                <a:ea typeface="Cambria" pitchFamily="34" charset="-122"/>
                <a:cs typeface="Cambria" pitchFamily="34" charset="-120"/>
              </a:rPr>
              <a:t>verified out loud.</a:t>
            </a:r>
            <a:endParaRPr lang="en-US" sz="5800" dirty="0"/>
          </a:p>
        </p:txBody>
      </p:sp>
      <p:sp>
        <p:nvSpPr>
          <p:cNvPr id="6" name="Text 2"/>
          <p:cNvSpPr txBox="1"/>
          <p:nvPr/>
        </p:nvSpPr>
        <p:spPr>
          <a:xfrm>
            <a:off x="548640" y="4069080"/>
            <a:ext cx="9692640" cy="1097280"/>
          </a:xfrm>
          <a:prstGeom prst="rect">
            <a:avLst/>
          </a:prstGeom>
          <a:noFill/>
          <a:ln/>
        </p:spPr>
        <p:txBody>
          <a:bodyPr wrap="square" lIns="0" tIns="0" rIns="0" bIns="0" rtlCol="0" anchor="t">
            <a:normAutofit/>
          </a:bodyPr>
          <a:lstStyle/>
          <a:p>
            <a:pPr indent="0" marL="0">
              <a:spcAft>
                <a:spcPts val="400"/>
              </a:spcAft>
              <a:buNone/>
            </a:pPr>
            <a:r>
              <a:rPr lang="en-US" sz="1900" dirty="0">
                <a:solidFill>
                  <a:srgbClr val="E5E9F0"/>
                </a:solidFill>
                <a:latin typeface="Calibri" pitchFamily="34" charset="0"/>
                <a:ea typeface="Calibri" pitchFamily="34" charset="-122"/>
                <a:cs typeface="Calibri" pitchFamily="34" charset="-120"/>
              </a:rPr>
              <a:t>A real-time closed-loop safety copilot for the operating room. It listens, checks every drug order against its read-back, tracks the WHO checklist, speaks up when a loop does not close, and writes the audit record.</a:t>
            </a:r>
            <a:endParaRPr lang="en-US" sz="1900" dirty="0"/>
          </a:p>
        </p:txBody>
      </p:sp>
      <p:sp>
        <p:nvSpPr>
          <p:cNvPr id="7" name="Text 3"/>
          <p:cNvSpPr txBox="1"/>
          <p:nvPr/>
        </p:nvSpPr>
        <p:spPr>
          <a:xfrm>
            <a:off x="548640" y="5806440"/>
            <a:ext cx="10515600" cy="320040"/>
          </a:xfrm>
          <a:prstGeom prst="rect">
            <a:avLst/>
          </a:prstGeom>
          <a:noFill/>
          <a:ln/>
        </p:spPr>
        <p:txBody>
          <a:bodyPr wrap="square" lIns="0" tIns="0" rIns="0" bIns="0" rtlCol="0" anchor="ctr"/>
          <a:lstStyle/>
          <a:p>
            <a:pPr indent="0" marL="0">
              <a:buNone/>
            </a:pPr>
            <a:r>
              <a:rPr lang="en-US" sz="1000" spc="200" kern="0" dirty="0">
                <a:solidFill>
                  <a:srgbClr val="6B7280"/>
                </a:solidFill>
                <a:latin typeface="Courier New" pitchFamily="34" charset="0"/>
                <a:ea typeface="Courier New" pitchFamily="34" charset="-122"/>
                <a:cs typeface="Courier New" pitchFamily="34" charset="-120"/>
              </a:rPr>
              <a:t>ASSEMBLYAI VOICE AGENT HACKATHON · SEPTEMBER 2026 · GITHUB.COM/MRNETWORK0001/SURGR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02</a:t>
            </a:r>
            <a:endParaRPr lang="en-US" sz="1000" dirty="0"/>
          </a:p>
        </p:txBody>
      </p:sp>
      <p:sp>
        <p:nvSpPr>
          <p:cNvPr id="5" name="Text 1"/>
          <p:cNvSpPr txBox="1"/>
          <p:nvPr/>
        </p:nvSpPr>
        <p:spPr>
          <a:xfrm>
            <a:off x="548640" y="1143000"/>
            <a:ext cx="7315200" cy="274320"/>
          </a:xfrm>
          <a:prstGeom prst="rect">
            <a:avLst/>
          </a:prstGeom>
          <a:noFill/>
          <a:ln/>
        </p:spPr>
        <p:txBody>
          <a:bodyPr wrap="square" lIns="0" tIns="0" rIns="0" bIns="0" rtlCol="0" anchor="ctr"/>
          <a:lstStyle/>
          <a:p>
            <a:pPr indent="0" marL="0">
              <a:buNone/>
            </a:pPr>
            <a:r>
              <a:rPr lang="en-US" sz="1100" spc="400" kern="0" dirty="0">
                <a:solidFill>
                  <a:srgbClr val="9AA3B2"/>
                </a:solidFill>
                <a:latin typeface="Courier New" pitchFamily="34" charset="0"/>
                <a:ea typeface="Courier New" pitchFamily="34" charset="-122"/>
                <a:cs typeface="Courier New" pitchFamily="34" charset="-120"/>
              </a:rPr>
              <a:t>THE PROBLEM</a:t>
            </a:r>
            <a:endParaRPr lang="en-US" sz="1100" dirty="0"/>
          </a:p>
        </p:txBody>
      </p:sp>
      <p:sp>
        <p:nvSpPr>
          <p:cNvPr id="6" name="Text 2"/>
          <p:cNvSpPr txBox="1"/>
          <p:nvPr/>
        </p:nvSpPr>
        <p:spPr>
          <a:xfrm>
            <a:off x="548640" y="1417320"/>
            <a:ext cx="11094415" cy="731520"/>
          </a:xfrm>
          <a:prstGeom prst="rect">
            <a:avLst/>
          </a:prstGeom>
          <a:noFill/>
          <a:ln/>
        </p:spPr>
        <p:txBody>
          <a:bodyPr wrap="square" lIns="0" tIns="0" rIns="0" bIns="0" rtlCol="0" anchor="t">
            <a:normAutofit/>
          </a:bodyPr>
          <a:lstStyle/>
          <a:p>
            <a:pPr indent="0" marL="0">
              <a:buNone/>
            </a:pPr>
            <a:r>
              <a:rPr lang="en-US" sz="4000" i="1" dirty="0">
                <a:solidFill>
                  <a:srgbClr val="FFFFFF"/>
                </a:solidFill>
                <a:latin typeface="Cambria" pitchFamily="34" charset="0"/>
                <a:ea typeface="Cambria" pitchFamily="34" charset="-122"/>
                <a:cs typeface="Cambria" pitchFamily="34" charset="-120"/>
              </a:rPr>
              <a:t>The loop breaks quietly</a:t>
            </a:r>
            <a:endParaRPr lang="en-US" sz="4000" dirty="0"/>
          </a:p>
        </p:txBody>
      </p:sp>
      <p:sp>
        <p:nvSpPr>
          <p:cNvPr id="7" name="Text 3"/>
          <p:cNvSpPr txBox="1"/>
          <p:nvPr/>
        </p:nvSpPr>
        <p:spPr>
          <a:xfrm>
            <a:off x="548640" y="2240280"/>
            <a:ext cx="11064240" cy="1051560"/>
          </a:xfrm>
          <a:prstGeom prst="rect">
            <a:avLst/>
          </a:prstGeom>
          <a:noFill/>
          <a:ln/>
        </p:spPr>
        <p:txBody>
          <a:bodyPr wrap="square" lIns="0" tIns="0" rIns="0" bIns="0" rtlCol="0" anchor="t">
            <a:normAutofit/>
          </a:bodyPr>
          <a:lstStyle/>
          <a:p>
            <a:pPr indent="0" marL="0">
              <a:spcAft>
                <a:spcPts val="400"/>
              </a:spcAft>
              <a:buNone/>
            </a:pPr>
            <a:r>
              <a:rPr lang="en-US" sz="1500" dirty="0">
                <a:solidFill>
                  <a:srgbClr val="D9DEE7"/>
                </a:solidFill>
                <a:latin typeface="Calibri" pitchFamily="34" charset="0"/>
                <a:ea typeface="Calibri" pitchFamily="34" charset="-122"/>
                <a:cs typeface="Calibri" pitchFamily="34" charset="-120"/>
              </a:rPr>
              <a:t>Drugs in surgery are ordered by voice. The standard is closed-loop communication: repeat the order back, get it confirmed, then act. Aviation made that mandatory decades ago. In an operating room it depends on people remembering under noise, fatigue and time pressure. Nothing beeps when a read-back does not happen.</a:t>
            </a:r>
            <a:endParaRPr lang="en-US" sz="1500" dirty="0"/>
          </a:p>
        </p:txBody>
      </p:sp>
      <p:sp>
        <p:nvSpPr>
          <p:cNvPr id="8" name="Shape 4"/>
          <p:cNvSpPr/>
          <p:nvPr/>
        </p:nvSpPr>
        <p:spPr>
          <a:xfrm>
            <a:off x="548640" y="3520440"/>
            <a:ext cx="2602154" cy="2743200"/>
          </a:xfrm>
          <a:prstGeom prst="roundRect">
            <a:avLst>
              <a:gd name="adj" fmla="val 6325"/>
            </a:avLst>
          </a:prstGeom>
          <a:solidFill>
            <a:srgbClr val="FFFFFF">
              <a:alpha val="5000"/>
            </a:srgbClr>
          </a:solidFill>
          <a:ln w="9525">
            <a:solidFill>
              <a:srgbClr val="FFFFFF">
                <a:alpha val="18000"/>
              </a:srgbClr>
            </a:solidFill>
            <a:prstDash val="solid"/>
          </a:ln>
        </p:spPr>
      </p:sp>
      <p:sp>
        <p:nvSpPr>
          <p:cNvPr id="9" name="Text 5"/>
          <p:cNvSpPr txBox="1"/>
          <p:nvPr/>
        </p:nvSpPr>
        <p:spPr>
          <a:xfrm>
            <a:off x="777240" y="3721608"/>
            <a:ext cx="2144954" cy="685800"/>
          </a:xfrm>
          <a:prstGeom prst="rect">
            <a:avLst/>
          </a:prstGeom>
          <a:noFill/>
          <a:ln/>
        </p:spPr>
        <p:txBody>
          <a:bodyPr wrap="square" lIns="0" tIns="0" rIns="0" bIns="0" rtlCol="0" anchor="t">
            <a:normAutofit/>
          </a:bodyPr>
          <a:lstStyle/>
          <a:p>
            <a:pPr indent="0" marL="0">
              <a:buNone/>
            </a:pPr>
            <a:r>
              <a:rPr lang="en-US" sz="3400" i="1" dirty="0">
                <a:solidFill>
                  <a:srgbClr val="FFFFFF"/>
                </a:solidFill>
                <a:latin typeface="Cambria" pitchFamily="34" charset="0"/>
                <a:ea typeface="Cambria" pitchFamily="34" charset="-122"/>
                <a:cs typeface="Cambria" pitchFamily="34" charset="-120"/>
              </a:rPr>
              <a:t>1 in 20</a:t>
            </a:r>
            <a:endParaRPr lang="en-US" sz="3400" dirty="0"/>
          </a:p>
        </p:txBody>
      </p:sp>
      <p:sp>
        <p:nvSpPr>
          <p:cNvPr id="10" name="Text 6"/>
          <p:cNvSpPr txBox="1"/>
          <p:nvPr/>
        </p:nvSpPr>
        <p:spPr>
          <a:xfrm>
            <a:off x="777240" y="4453128"/>
            <a:ext cx="2144954" cy="1627632"/>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perioperative medication administrations involve an error or adverse drug event</a:t>
            </a:r>
            <a:endParaRPr lang="en-US" sz="1300" dirty="0"/>
          </a:p>
        </p:txBody>
      </p:sp>
      <p:sp>
        <p:nvSpPr>
          <p:cNvPr id="11" name="Text 7"/>
          <p:cNvSpPr txBox="1"/>
          <p:nvPr/>
        </p:nvSpPr>
        <p:spPr>
          <a:xfrm>
            <a:off x="777240" y="5852160"/>
            <a:ext cx="2144954"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Nanji et al., Anesthesiology, 2016</a:t>
            </a:r>
            <a:endParaRPr lang="en-US" sz="1000" dirty="0"/>
          </a:p>
        </p:txBody>
      </p:sp>
      <p:sp>
        <p:nvSpPr>
          <p:cNvPr id="12" name="Shape 8"/>
          <p:cNvSpPr/>
          <p:nvPr/>
        </p:nvSpPr>
        <p:spPr>
          <a:xfrm>
            <a:off x="3379394" y="3520440"/>
            <a:ext cx="2602154" cy="2743200"/>
          </a:xfrm>
          <a:prstGeom prst="roundRect">
            <a:avLst>
              <a:gd name="adj" fmla="val 6325"/>
            </a:avLst>
          </a:prstGeom>
          <a:solidFill>
            <a:srgbClr val="FFFFFF">
              <a:alpha val="5000"/>
            </a:srgbClr>
          </a:solidFill>
          <a:ln w="9525">
            <a:solidFill>
              <a:srgbClr val="FFFFFF">
                <a:alpha val="18000"/>
              </a:srgbClr>
            </a:solidFill>
            <a:prstDash val="solid"/>
          </a:ln>
        </p:spPr>
      </p:sp>
      <p:sp>
        <p:nvSpPr>
          <p:cNvPr id="13" name="Text 9"/>
          <p:cNvSpPr txBox="1"/>
          <p:nvPr/>
        </p:nvSpPr>
        <p:spPr>
          <a:xfrm>
            <a:off x="3607994" y="3721608"/>
            <a:ext cx="2144954" cy="685800"/>
          </a:xfrm>
          <a:prstGeom prst="rect">
            <a:avLst/>
          </a:prstGeom>
          <a:noFill/>
          <a:ln/>
        </p:spPr>
        <p:txBody>
          <a:bodyPr wrap="square" lIns="0" tIns="0" rIns="0" bIns="0" rtlCol="0" anchor="t">
            <a:normAutofit/>
          </a:bodyPr>
          <a:lstStyle/>
          <a:p>
            <a:pPr indent="0" marL="0">
              <a:buNone/>
            </a:pPr>
            <a:r>
              <a:rPr lang="en-US" sz="3400" i="1" dirty="0">
                <a:solidFill>
                  <a:srgbClr val="FFFFFF"/>
                </a:solidFill>
                <a:latin typeface="Cambria" pitchFamily="34" charset="0"/>
                <a:ea typeface="Cambria" pitchFamily="34" charset="-122"/>
                <a:cs typeface="Cambria" pitchFamily="34" charset="-120"/>
              </a:rPr>
              <a:t>11% → 7%</a:t>
            </a:r>
            <a:endParaRPr lang="en-US" sz="3400" dirty="0"/>
          </a:p>
        </p:txBody>
      </p:sp>
      <p:sp>
        <p:nvSpPr>
          <p:cNvPr id="14" name="Text 10"/>
          <p:cNvSpPr txBox="1"/>
          <p:nvPr/>
        </p:nvSpPr>
        <p:spPr>
          <a:xfrm>
            <a:off x="3607994" y="4453128"/>
            <a:ext cx="2144954" cy="1627632"/>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major complications after the WHO Surgical Safety Checklist; deaths 1.5% → 0.8%</a:t>
            </a:r>
            <a:endParaRPr lang="en-US" sz="1300" dirty="0"/>
          </a:p>
        </p:txBody>
      </p:sp>
      <p:sp>
        <p:nvSpPr>
          <p:cNvPr id="15" name="Text 11"/>
          <p:cNvSpPr txBox="1"/>
          <p:nvPr/>
        </p:nvSpPr>
        <p:spPr>
          <a:xfrm>
            <a:off x="3607994" y="5852160"/>
            <a:ext cx="2144954"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Haynes et al., NEJM, 2009</a:t>
            </a:r>
            <a:endParaRPr lang="en-US" sz="1000" dirty="0"/>
          </a:p>
        </p:txBody>
      </p:sp>
      <p:sp>
        <p:nvSpPr>
          <p:cNvPr id="16" name="Shape 12"/>
          <p:cNvSpPr/>
          <p:nvPr/>
        </p:nvSpPr>
        <p:spPr>
          <a:xfrm>
            <a:off x="6210148" y="3520440"/>
            <a:ext cx="2602154" cy="2743200"/>
          </a:xfrm>
          <a:prstGeom prst="roundRect">
            <a:avLst>
              <a:gd name="adj" fmla="val 6325"/>
            </a:avLst>
          </a:prstGeom>
          <a:solidFill>
            <a:srgbClr val="FFFFFF">
              <a:alpha val="5000"/>
            </a:srgbClr>
          </a:solidFill>
          <a:ln w="9525">
            <a:solidFill>
              <a:srgbClr val="FFFFFF">
                <a:alpha val="18000"/>
              </a:srgbClr>
            </a:solidFill>
            <a:prstDash val="solid"/>
          </a:ln>
        </p:spPr>
      </p:sp>
      <p:sp>
        <p:nvSpPr>
          <p:cNvPr id="17" name="Text 13"/>
          <p:cNvSpPr txBox="1"/>
          <p:nvPr/>
        </p:nvSpPr>
        <p:spPr>
          <a:xfrm>
            <a:off x="6438748" y="3721608"/>
            <a:ext cx="2144954" cy="685800"/>
          </a:xfrm>
          <a:prstGeom prst="rect">
            <a:avLst/>
          </a:prstGeom>
          <a:noFill/>
          <a:ln/>
        </p:spPr>
        <p:txBody>
          <a:bodyPr wrap="square" lIns="0" tIns="0" rIns="0" bIns="0" rtlCol="0" anchor="t">
            <a:normAutofit/>
          </a:bodyPr>
          <a:lstStyle/>
          <a:p>
            <a:pPr indent="0" marL="0">
              <a:buNone/>
            </a:pPr>
            <a:r>
              <a:rPr lang="en-US" sz="3400" i="1" dirty="0">
                <a:solidFill>
                  <a:srgbClr val="FFFFFF"/>
                </a:solidFill>
                <a:latin typeface="Cambria" pitchFamily="34" charset="0"/>
                <a:ea typeface="Cambria" pitchFamily="34" charset="-122"/>
                <a:cs typeface="Cambria" pitchFamily="34" charset="-120"/>
              </a:rPr>
              <a:t>~2 in 3</a:t>
            </a:r>
            <a:endParaRPr lang="en-US" sz="3400" dirty="0"/>
          </a:p>
        </p:txBody>
      </p:sp>
      <p:sp>
        <p:nvSpPr>
          <p:cNvPr id="18" name="Text 14"/>
          <p:cNvSpPr txBox="1"/>
          <p:nvPr/>
        </p:nvSpPr>
        <p:spPr>
          <a:xfrm>
            <a:off x="6438748" y="4453128"/>
            <a:ext cx="2144954" cy="1627632"/>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sentinel events involve a breakdown in team communication</a:t>
            </a:r>
            <a:endParaRPr lang="en-US" sz="1300" dirty="0"/>
          </a:p>
        </p:txBody>
      </p:sp>
      <p:sp>
        <p:nvSpPr>
          <p:cNvPr id="19" name="Text 15"/>
          <p:cNvSpPr txBox="1"/>
          <p:nvPr/>
        </p:nvSpPr>
        <p:spPr>
          <a:xfrm>
            <a:off x="6438748" y="5852160"/>
            <a:ext cx="2144954"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The Joint Commission</a:t>
            </a:r>
            <a:endParaRPr lang="en-US" sz="1000" dirty="0"/>
          </a:p>
        </p:txBody>
      </p:sp>
      <p:sp>
        <p:nvSpPr>
          <p:cNvPr id="20" name="Shape 16"/>
          <p:cNvSpPr/>
          <p:nvPr/>
        </p:nvSpPr>
        <p:spPr>
          <a:xfrm>
            <a:off x="9040901" y="3520440"/>
            <a:ext cx="2602154" cy="2743200"/>
          </a:xfrm>
          <a:prstGeom prst="roundRect">
            <a:avLst>
              <a:gd name="adj" fmla="val 6325"/>
            </a:avLst>
          </a:prstGeom>
          <a:solidFill>
            <a:srgbClr val="FFFFFF">
              <a:alpha val="5000"/>
            </a:srgbClr>
          </a:solidFill>
          <a:ln w="9525">
            <a:solidFill>
              <a:srgbClr val="FFFFFF">
                <a:alpha val="18000"/>
              </a:srgbClr>
            </a:solidFill>
            <a:prstDash val="solid"/>
          </a:ln>
        </p:spPr>
      </p:sp>
      <p:sp>
        <p:nvSpPr>
          <p:cNvPr id="21" name="Text 17"/>
          <p:cNvSpPr txBox="1"/>
          <p:nvPr/>
        </p:nvSpPr>
        <p:spPr>
          <a:xfrm>
            <a:off x="9269501" y="3721608"/>
            <a:ext cx="2144954" cy="685800"/>
          </a:xfrm>
          <a:prstGeom prst="rect">
            <a:avLst/>
          </a:prstGeom>
          <a:noFill/>
          <a:ln/>
        </p:spPr>
        <p:txBody>
          <a:bodyPr wrap="square" lIns="0" tIns="0" rIns="0" bIns="0" rtlCol="0" anchor="t">
            <a:normAutofit/>
          </a:bodyPr>
          <a:lstStyle/>
          <a:p>
            <a:pPr indent="0" marL="0">
              <a:buNone/>
            </a:pPr>
            <a:r>
              <a:rPr lang="en-US" sz="3400" i="1" dirty="0">
                <a:solidFill>
                  <a:srgbClr val="FFFFFF"/>
                </a:solidFill>
                <a:latin typeface="Cambria" pitchFamily="34" charset="0"/>
                <a:ea typeface="Cambria" pitchFamily="34" charset="-122"/>
                <a:cs typeface="Cambria" pitchFamily="34" charset="-120"/>
              </a:rPr>
              <a:t>310M+</a:t>
            </a:r>
            <a:endParaRPr lang="en-US" sz="3400" dirty="0"/>
          </a:p>
        </p:txBody>
      </p:sp>
      <p:sp>
        <p:nvSpPr>
          <p:cNvPr id="22" name="Text 18"/>
          <p:cNvSpPr txBox="1"/>
          <p:nvPr/>
        </p:nvSpPr>
        <p:spPr>
          <a:xfrm>
            <a:off x="9269501" y="4453128"/>
            <a:ext cx="2144954" cy="1627632"/>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major operations performed worldwide every year</a:t>
            </a:r>
            <a:endParaRPr lang="en-US" sz="1300" dirty="0"/>
          </a:p>
        </p:txBody>
      </p:sp>
      <p:sp>
        <p:nvSpPr>
          <p:cNvPr id="23" name="Text 19"/>
          <p:cNvSpPr txBox="1"/>
          <p:nvPr/>
        </p:nvSpPr>
        <p:spPr>
          <a:xfrm>
            <a:off x="9269501" y="5852160"/>
            <a:ext cx="2144954"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Weiser et al., 2016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03</a:t>
            </a:r>
            <a:endParaRPr lang="en-US" sz="1000" dirty="0"/>
          </a:p>
        </p:txBody>
      </p:sp>
      <p:sp>
        <p:nvSpPr>
          <p:cNvPr id="5" name="Text 1"/>
          <p:cNvSpPr txBox="1"/>
          <p:nvPr/>
        </p:nvSpPr>
        <p:spPr>
          <a:xfrm>
            <a:off x="548640" y="1143000"/>
            <a:ext cx="7315200" cy="274320"/>
          </a:xfrm>
          <a:prstGeom prst="rect">
            <a:avLst/>
          </a:prstGeom>
          <a:noFill/>
          <a:ln/>
        </p:spPr>
        <p:txBody>
          <a:bodyPr wrap="square" lIns="0" tIns="0" rIns="0" bIns="0" rtlCol="0" anchor="ctr"/>
          <a:lstStyle/>
          <a:p>
            <a:pPr indent="0" marL="0">
              <a:buNone/>
            </a:pPr>
            <a:r>
              <a:rPr lang="en-US" sz="1100" spc="400" kern="0" dirty="0">
                <a:solidFill>
                  <a:srgbClr val="9AA3B2"/>
                </a:solidFill>
                <a:latin typeface="Courier New" pitchFamily="34" charset="0"/>
                <a:ea typeface="Courier New" pitchFamily="34" charset="-122"/>
                <a:cs typeface="Courier New" pitchFamily="34" charset="-120"/>
              </a:rPr>
              <a:t>THE PRODUCT</a:t>
            </a:r>
            <a:endParaRPr lang="en-US" sz="1100" dirty="0"/>
          </a:p>
        </p:txBody>
      </p:sp>
      <p:sp>
        <p:nvSpPr>
          <p:cNvPr id="6" name="Text 2"/>
          <p:cNvSpPr txBox="1"/>
          <p:nvPr/>
        </p:nvSpPr>
        <p:spPr>
          <a:xfrm>
            <a:off x="548640" y="1417320"/>
            <a:ext cx="11094415" cy="731520"/>
          </a:xfrm>
          <a:prstGeom prst="rect">
            <a:avLst/>
          </a:prstGeom>
          <a:noFill/>
          <a:ln/>
        </p:spPr>
        <p:txBody>
          <a:bodyPr wrap="square" lIns="0" tIns="0" rIns="0" bIns="0" rtlCol="0" anchor="t">
            <a:normAutofit/>
          </a:bodyPr>
          <a:lstStyle/>
          <a:p>
            <a:pPr indent="0" marL="0">
              <a:buNone/>
            </a:pPr>
            <a:r>
              <a:rPr lang="en-US" sz="4000" i="1" dirty="0">
                <a:solidFill>
                  <a:srgbClr val="FFFFFF"/>
                </a:solidFill>
                <a:latin typeface="Cambria" pitchFamily="34" charset="0"/>
                <a:ea typeface="Cambria" pitchFamily="34" charset="-122"/>
                <a:cs typeface="Cambria" pitchFamily="34" charset="-120"/>
              </a:rPr>
              <a:t>Listen, understand, intervene, document</a:t>
            </a:r>
            <a:endParaRPr lang="en-US" sz="4000" dirty="0"/>
          </a:p>
        </p:txBody>
      </p:sp>
      <p:sp>
        <p:nvSpPr>
          <p:cNvPr id="7" name="Shape 3"/>
          <p:cNvSpPr/>
          <p:nvPr/>
        </p:nvSpPr>
        <p:spPr>
          <a:xfrm>
            <a:off x="548640" y="2286000"/>
            <a:ext cx="2602154" cy="2377440"/>
          </a:xfrm>
          <a:prstGeom prst="roundRect">
            <a:avLst>
              <a:gd name="adj" fmla="val 6923"/>
            </a:avLst>
          </a:prstGeom>
          <a:solidFill>
            <a:srgbClr val="FFFFFF">
              <a:alpha val="5000"/>
            </a:srgbClr>
          </a:solidFill>
          <a:ln w="9525">
            <a:solidFill>
              <a:srgbClr val="FFFFFF">
                <a:alpha val="18000"/>
              </a:srgbClr>
            </a:solidFill>
            <a:prstDash val="solid"/>
          </a:ln>
        </p:spPr>
      </p:sp>
      <p:sp>
        <p:nvSpPr>
          <p:cNvPr id="8" name="Text 4"/>
          <p:cNvSpPr txBox="1"/>
          <p:nvPr/>
        </p:nvSpPr>
        <p:spPr>
          <a:xfrm>
            <a:off x="777240" y="2487168"/>
            <a:ext cx="2144954" cy="228600"/>
          </a:xfrm>
          <a:prstGeom prst="rect">
            <a:avLst/>
          </a:prstGeom>
          <a:noFill/>
          <a:ln/>
        </p:spPr>
        <p:txBody>
          <a:bodyPr wrap="square" lIns="0" tIns="0" rIns="0" bIns="0" rtlCol="0" anchor="ctr"/>
          <a:lstStyle/>
          <a:p>
            <a:pPr indent="0" marL="0">
              <a:buNone/>
            </a:pPr>
            <a:r>
              <a:rPr lang="en-US" sz="900" spc="300" kern="0" dirty="0">
                <a:solidFill>
                  <a:srgbClr val="2DD4BF"/>
                </a:solidFill>
                <a:latin typeface="Courier New" pitchFamily="34" charset="0"/>
                <a:ea typeface="Courier New" pitchFamily="34" charset="-122"/>
                <a:cs typeface="Courier New" pitchFamily="34" charset="-120"/>
              </a:rPr>
              <a:t>01</a:t>
            </a:r>
            <a:endParaRPr lang="en-US" sz="900" dirty="0"/>
          </a:p>
        </p:txBody>
      </p:sp>
      <p:sp>
        <p:nvSpPr>
          <p:cNvPr id="9" name="Text 5"/>
          <p:cNvSpPr txBox="1"/>
          <p:nvPr/>
        </p:nvSpPr>
        <p:spPr>
          <a:xfrm>
            <a:off x="777240" y="2779776"/>
            <a:ext cx="2144954" cy="384048"/>
          </a:xfrm>
          <a:prstGeom prst="rect">
            <a:avLst/>
          </a:prstGeom>
          <a:noFill/>
          <a:ln/>
        </p:spPr>
        <p:txBody>
          <a:bodyPr wrap="square" lIns="0" tIns="0" rIns="0" bIns="0" rtlCol="0" anchor="t">
            <a:normAutofit/>
          </a:bodyPr>
          <a:lstStyle/>
          <a:p>
            <a:pPr indent="0" marL="0">
              <a:buNone/>
            </a:pPr>
            <a:r>
              <a:rPr lang="en-US" sz="2000" i="1" dirty="0">
                <a:solidFill>
                  <a:srgbClr val="FFFFFF"/>
                </a:solidFill>
                <a:latin typeface="Cambria" pitchFamily="34" charset="0"/>
                <a:ea typeface="Cambria" pitchFamily="34" charset="-122"/>
                <a:cs typeface="Cambria" pitchFamily="34" charset="-120"/>
              </a:rPr>
              <a:t>Listen</a:t>
            </a:r>
            <a:endParaRPr lang="en-US" sz="2000" dirty="0"/>
          </a:p>
        </p:txBody>
      </p:sp>
      <p:sp>
        <p:nvSpPr>
          <p:cNvPr id="10" name="Text 6"/>
          <p:cNvSpPr txBox="1"/>
          <p:nvPr/>
        </p:nvSpPr>
        <p:spPr>
          <a:xfrm>
            <a:off x="777240" y="3218688"/>
            <a:ext cx="2144954" cy="1261872"/>
          </a:xfrm>
          <a:prstGeom prst="rect">
            <a:avLst/>
          </a:prstGeom>
          <a:noFill/>
          <a:ln/>
        </p:spPr>
        <p:txBody>
          <a:bodyPr wrap="square" lIns="0" tIns="0" rIns="0" bIns="0" rtlCol="0" anchor="t">
            <a:normAutofit/>
          </a:bodyPr>
          <a:lstStyle/>
          <a:p>
            <a:pPr indent="0" marL="0">
              <a:spcAft>
                <a:spcPts val="400"/>
              </a:spcAft>
              <a:buNone/>
            </a:pPr>
            <a:r>
              <a:rPr lang="en-US" sz="1200" dirty="0">
                <a:solidFill>
                  <a:srgbClr val="D9DEE7"/>
                </a:solidFill>
                <a:latin typeface="Calibri" pitchFamily="34" charset="0"/>
                <a:ea typeface="Calibri" pitchFamily="34" charset="-122"/>
                <a:cs typeface="Calibri" pitchFamily="34" charset="-120"/>
              </a:rPr>
              <a:t>Room audio streams to AssemblyAI. Medical mode gets drug names and doses right; speaker labels tell surgeon, anesthesiologist and nurse apart on one microphone.</a:t>
            </a:r>
            <a:endParaRPr lang="en-US" sz="1200" dirty="0"/>
          </a:p>
        </p:txBody>
      </p:sp>
      <p:sp>
        <p:nvSpPr>
          <p:cNvPr id="11" name="Shape 7"/>
          <p:cNvSpPr/>
          <p:nvPr/>
        </p:nvSpPr>
        <p:spPr>
          <a:xfrm>
            <a:off x="3379394" y="2286000"/>
            <a:ext cx="2602154" cy="2377440"/>
          </a:xfrm>
          <a:prstGeom prst="roundRect">
            <a:avLst>
              <a:gd name="adj" fmla="val 6923"/>
            </a:avLst>
          </a:prstGeom>
          <a:solidFill>
            <a:srgbClr val="FFFFFF">
              <a:alpha val="5000"/>
            </a:srgbClr>
          </a:solidFill>
          <a:ln w="9525">
            <a:solidFill>
              <a:srgbClr val="FFFFFF">
                <a:alpha val="18000"/>
              </a:srgbClr>
            </a:solidFill>
            <a:prstDash val="solid"/>
          </a:ln>
        </p:spPr>
      </p:sp>
      <p:sp>
        <p:nvSpPr>
          <p:cNvPr id="12" name="Text 8"/>
          <p:cNvSpPr txBox="1"/>
          <p:nvPr/>
        </p:nvSpPr>
        <p:spPr>
          <a:xfrm>
            <a:off x="3607994" y="2487168"/>
            <a:ext cx="2144954" cy="228600"/>
          </a:xfrm>
          <a:prstGeom prst="rect">
            <a:avLst/>
          </a:prstGeom>
          <a:noFill/>
          <a:ln/>
        </p:spPr>
        <p:txBody>
          <a:bodyPr wrap="square" lIns="0" tIns="0" rIns="0" bIns="0" rtlCol="0" anchor="ctr"/>
          <a:lstStyle/>
          <a:p>
            <a:pPr indent="0" marL="0">
              <a:buNone/>
            </a:pPr>
            <a:r>
              <a:rPr lang="en-US" sz="900" spc="300" kern="0" dirty="0">
                <a:solidFill>
                  <a:srgbClr val="2DD4BF"/>
                </a:solidFill>
                <a:latin typeface="Courier New" pitchFamily="34" charset="0"/>
                <a:ea typeface="Courier New" pitchFamily="34" charset="-122"/>
                <a:cs typeface="Courier New" pitchFamily="34" charset="-120"/>
              </a:rPr>
              <a:t>02</a:t>
            </a:r>
            <a:endParaRPr lang="en-US" sz="900" dirty="0"/>
          </a:p>
        </p:txBody>
      </p:sp>
      <p:sp>
        <p:nvSpPr>
          <p:cNvPr id="13" name="Text 9"/>
          <p:cNvSpPr txBox="1"/>
          <p:nvPr/>
        </p:nvSpPr>
        <p:spPr>
          <a:xfrm>
            <a:off x="3607994" y="2779776"/>
            <a:ext cx="2144954" cy="384048"/>
          </a:xfrm>
          <a:prstGeom prst="rect">
            <a:avLst/>
          </a:prstGeom>
          <a:noFill/>
          <a:ln/>
        </p:spPr>
        <p:txBody>
          <a:bodyPr wrap="square" lIns="0" tIns="0" rIns="0" bIns="0" rtlCol="0" anchor="t">
            <a:normAutofit/>
          </a:bodyPr>
          <a:lstStyle/>
          <a:p>
            <a:pPr indent="0" marL="0">
              <a:buNone/>
            </a:pPr>
            <a:r>
              <a:rPr lang="en-US" sz="2000" i="1" dirty="0">
                <a:solidFill>
                  <a:srgbClr val="FFFFFF"/>
                </a:solidFill>
                <a:latin typeface="Cambria" pitchFamily="34" charset="0"/>
                <a:ea typeface="Cambria" pitchFamily="34" charset="-122"/>
                <a:cs typeface="Cambria" pitchFamily="34" charset="-120"/>
              </a:rPr>
              <a:t>Understand</a:t>
            </a:r>
            <a:endParaRPr lang="en-US" sz="2000" dirty="0"/>
          </a:p>
        </p:txBody>
      </p:sp>
      <p:sp>
        <p:nvSpPr>
          <p:cNvPr id="14" name="Text 10"/>
          <p:cNvSpPr txBox="1"/>
          <p:nvPr/>
        </p:nvSpPr>
        <p:spPr>
          <a:xfrm>
            <a:off x="3607994" y="3218688"/>
            <a:ext cx="2144954" cy="1261872"/>
          </a:xfrm>
          <a:prstGeom prst="rect">
            <a:avLst/>
          </a:prstGeom>
          <a:noFill/>
          <a:ln/>
        </p:spPr>
        <p:txBody>
          <a:bodyPr wrap="square" lIns="0" tIns="0" rIns="0" bIns="0" rtlCol="0" anchor="t">
            <a:normAutofit/>
          </a:bodyPr>
          <a:lstStyle/>
          <a:p>
            <a:pPr indent="0" marL="0">
              <a:spcAft>
                <a:spcPts val="400"/>
              </a:spcAft>
              <a:buNone/>
            </a:pPr>
            <a:r>
              <a:rPr lang="en-US" sz="1200" dirty="0">
                <a:solidFill>
                  <a:srgbClr val="D9DEE7"/>
                </a:solidFill>
                <a:latin typeface="Calibri" pitchFamily="34" charset="0"/>
                <a:ea typeface="Calibri" pitchFamily="34" charset="-122"/>
                <a:cs typeface="Calibri" pitchFamily="34" charset="-120"/>
              </a:rPr>
              <a:t>A deterministic classifier parses orders, read-backs and checklist statements in under a millisecond. Ambiguous drug talk goes to the LLM Gateway under a strict JSON schema.</a:t>
            </a:r>
            <a:endParaRPr lang="en-US" sz="1200" dirty="0"/>
          </a:p>
        </p:txBody>
      </p:sp>
      <p:sp>
        <p:nvSpPr>
          <p:cNvPr id="15" name="Shape 11"/>
          <p:cNvSpPr/>
          <p:nvPr/>
        </p:nvSpPr>
        <p:spPr>
          <a:xfrm>
            <a:off x="6210148" y="2286000"/>
            <a:ext cx="2602154" cy="2377440"/>
          </a:xfrm>
          <a:prstGeom prst="roundRect">
            <a:avLst>
              <a:gd name="adj" fmla="val 6923"/>
            </a:avLst>
          </a:prstGeom>
          <a:solidFill>
            <a:srgbClr val="FFFFFF">
              <a:alpha val="5000"/>
            </a:srgbClr>
          </a:solidFill>
          <a:ln w="9525">
            <a:solidFill>
              <a:srgbClr val="FFFFFF">
                <a:alpha val="18000"/>
              </a:srgbClr>
            </a:solidFill>
            <a:prstDash val="solid"/>
          </a:ln>
        </p:spPr>
      </p:sp>
      <p:sp>
        <p:nvSpPr>
          <p:cNvPr id="16" name="Text 12"/>
          <p:cNvSpPr txBox="1"/>
          <p:nvPr/>
        </p:nvSpPr>
        <p:spPr>
          <a:xfrm>
            <a:off x="6438748" y="2487168"/>
            <a:ext cx="2144954" cy="228600"/>
          </a:xfrm>
          <a:prstGeom prst="rect">
            <a:avLst/>
          </a:prstGeom>
          <a:noFill/>
          <a:ln/>
        </p:spPr>
        <p:txBody>
          <a:bodyPr wrap="square" lIns="0" tIns="0" rIns="0" bIns="0" rtlCol="0" anchor="ctr"/>
          <a:lstStyle/>
          <a:p>
            <a:pPr indent="0" marL="0">
              <a:buNone/>
            </a:pPr>
            <a:r>
              <a:rPr lang="en-US" sz="900" spc="300" kern="0" dirty="0">
                <a:solidFill>
                  <a:srgbClr val="2DD4BF"/>
                </a:solidFill>
                <a:latin typeface="Courier New" pitchFamily="34" charset="0"/>
                <a:ea typeface="Courier New" pitchFamily="34" charset="-122"/>
                <a:cs typeface="Courier New" pitchFamily="34" charset="-120"/>
              </a:rPr>
              <a:t>03</a:t>
            </a:r>
            <a:endParaRPr lang="en-US" sz="900" dirty="0"/>
          </a:p>
        </p:txBody>
      </p:sp>
      <p:sp>
        <p:nvSpPr>
          <p:cNvPr id="17" name="Text 13"/>
          <p:cNvSpPr txBox="1"/>
          <p:nvPr/>
        </p:nvSpPr>
        <p:spPr>
          <a:xfrm>
            <a:off x="6438748" y="2779776"/>
            <a:ext cx="2144954" cy="384048"/>
          </a:xfrm>
          <a:prstGeom prst="rect">
            <a:avLst/>
          </a:prstGeom>
          <a:noFill/>
          <a:ln/>
        </p:spPr>
        <p:txBody>
          <a:bodyPr wrap="square" lIns="0" tIns="0" rIns="0" bIns="0" rtlCol="0" anchor="t">
            <a:normAutofit/>
          </a:bodyPr>
          <a:lstStyle/>
          <a:p>
            <a:pPr indent="0" marL="0">
              <a:buNone/>
            </a:pPr>
            <a:r>
              <a:rPr lang="en-US" sz="2000" i="1" dirty="0">
                <a:solidFill>
                  <a:srgbClr val="FFFFFF"/>
                </a:solidFill>
                <a:latin typeface="Cambria" pitchFamily="34" charset="0"/>
                <a:ea typeface="Cambria" pitchFamily="34" charset="-122"/>
                <a:cs typeface="Cambria" pitchFamily="34" charset="-120"/>
              </a:rPr>
              <a:t>Intervene</a:t>
            </a:r>
            <a:endParaRPr lang="en-US" sz="2000" dirty="0"/>
          </a:p>
        </p:txBody>
      </p:sp>
      <p:sp>
        <p:nvSpPr>
          <p:cNvPr id="18" name="Text 14"/>
          <p:cNvSpPr txBox="1"/>
          <p:nvPr/>
        </p:nvSpPr>
        <p:spPr>
          <a:xfrm>
            <a:off x="6438748" y="3218688"/>
            <a:ext cx="2144954" cy="1261872"/>
          </a:xfrm>
          <a:prstGeom prst="rect">
            <a:avLst/>
          </a:prstGeom>
          <a:noFill/>
          <a:ln/>
        </p:spPr>
        <p:txBody>
          <a:bodyPr wrap="square" lIns="0" tIns="0" rIns="0" bIns="0" rtlCol="0" anchor="t">
            <a:normAutofit/>
          </a:bodyPr>
          <a:lstStyle/>
          <a:p>
            <a:pPr indent="0" marL="0">
              <a:spcAft>
                <a:spcPts val="400"/>
              </a:spcAft>
              <a:buNone/>
            </a:pPr>
            <a:r>
              <a:rPr lang="en-US" sz="1200" dirty="0">
                <a:solidFill>
                  <a:srgbClr val="D9DEE7"/>
                </a:solidFill>
                <a:latin typeface="Calibri" pitchFamily="34" charset="0"/>
                <a:ea typeface="Calibri" pitchFamily="34" charset="-122"/>
                <a:cs typeface="Calibri" pitchFamily="34" charset="-120"/>
              </a:rPr>
              <a:t>Every order gets ten seconds to be read back. Wrong dose, wrong drug, wrong route or silence, and Surgr speaks the alert into the room through the Voice Agent.</a:t>
            </a:r>
            <a:endParaRPr lang="en-US" sz="1200" dirty="0"/>
          </a:p>
        </p:txBody>
      </p:sp>
      <p:sp>
        <p:nvSpPr>
          <p:cNvPr id="19" name="Shape 15"/>
          <p:cNvSpPr/>
          <p:nvPr/>
        </p:nvSpPr>
        <p:spPr>
          <a:xfrm>
            <a:off x="9040901" y="2286000"/>
            <a:ext cx="2602154" cy="2377440"/>
          </a:xfrm>
          <a:prstGeom prst="roundRect">
            <a:avLst>
              <a:gd name="adj" fmla="val 6923"/>
            </a:avLst>
          </a:prstGeom>
          <a:solidFill>
            <a:srgbClr val="FFFFFF">
              <a:alpha val="5000"/>
            </a:srgbClr>
          </a:solidFill>
          <a:ln w="9525">
            <a:solidFill>
              <a:srgbClr val="FFFFFF">
                <a:alpha val="18000"/>
              </a:srgbClr>
            </a:solidFill>
            <a:prstDash val="solid"/>
          </a:ln>
        </p:spPr>
      </p:sp>
      <p:sp>
        <p:nvSpPr>
          <p:cNvPr id="20" name="Text 16"/>
          <p:cNvSpPr txBox="1"/>
          <p:nvPr/>
        </p:nvSpPr>
        <p:spPr>
          <a:xfrm>
            <a:off x="9269501" y="2487168"/>
            <a:ext cx="2144954" cy="228600"/>
          </a:xfrm>
          <a:prstGeom prst="rect">
            <a:avLst/>
          </a:prstGeom>
          <a:noFill/>
          <a:ln/>
        </p:spPr>
        <p:txBody>
          <a:bodyPr wrap="square" lIns="0" tIns="0" rIns="0" bIns="0" rtlCol="0" anchor="ctr"/>
          <a:lstStyle/>
          <a:p>
            <a:pPr indent="0" marL="0">
              <a:buNone/>
            </a:pPr>
            <a:r>
              <a:rPr lang="en-US" sz="900" spc="300" kern="0" dirty="0">
                <a:solidFill>
                  <a:srgbClr val="2DD4BF"/>
                </a:solidFill>
                <a:latin typeface="Courier New" pitchFamily="34" charset="0"/>
                <a:ea typeface="Courier New" pitchFamily="34" charset="-122"/>
                <a:cs typeface="Courier New" pitchFamily="34" charset="-120"/>
              </a:rPr>
              <a:t>04</a:t>
            </a:r>
            <a:endParaRPr lang="en-US" sz="900" dirty="0"/>
          </a:p>
        </p:txBody>
      </p:sp>
      <p:sp>
        <p:nvSpPr>
          <p:cNvPr id="21" name="Text 17"/>
          <p:cNvSpPr txBox="1"/>
          <p:nvPr/>
        </p:nvSpPr>
        <p:spPr>
          <a:xfrm>
            <a:off x="9269501" y="2779776"/>
            <a:ext cx="2144954" cy="384048"/>
          </a:xfrm>
          <a:prstGeom prst="rect">
            <a:avLst/>
          </a:prstGeom>
          <a:noFill/>
          <a:ln/>
        </p:spPr>
        <p:txBody>
          <a:bodyPr wrap="square" lIns="0" tIns="0" rIns="0" bIns="0" rtlCol="0" anchor="t">
            <a:normAutofit/>
          </a:bodyPr>
          <a:lstStyle/>
          <a:p>
            <a:pPr indent="0" marL="0">
              <a:buNone/>
            </a:pPr>
            <a:r>
              <a:rPr lang="en-US" sz="2000" i="1" dirty="0">
                <a:solidFill>
                  <a:srgbClr val="FFFFFF"/>
                </a:solidFill>
                <a:latin typeface="Cambria" pitchFamily="34" charset="0"/>
                <a:ea typeface="Cambria" pitchFamily="34" charset="-122"/>
                <a:cs typeface="Cambria" pitchFamily="34" charset="-120"/>
              </a:rPr>
              <a:t>Document</a:t>
            </a:r>
            <a:endParaRPr lang="en-US" sz="2000" dirty="0"/>
          </a:p>
        </p:txBody>
      </p:sp>
      <p:sp>
        <p:nvSpPr>
          <p:cNvPr id="22" name="Text 18"/>
          <p:cNvSpPr txBox="1"/>
          <p:nvPr/>
        </p:nvSpPr>
        <p:spPr>
          <a:xfrm>
            <a:off x="9269501" y="3218688"/>
            <a:ext cx="2144954" cy="1261872"/>
          </a:xfrm>
          <a:prstGeom prst="rect">
            <a:avLst/>
          </a:prstGeom>
          <a:noFill/>
          <a:ln/>
        </p:spPr>
        <p:txBody>
          <a:bodyPr wrap="square" lIns="0" tIns="0" rIns="0" bIns="0" rtlCol="0" anchor="t">
            <a:normAutofit/>
          </a:bodyPr>
          <a:lstStyle/>
          <a:p>
            <a:pPr indent="0" marL="0">
              <a:spcAft>
                <a:spcPts val="400"/>
              </a:spcAft>
              <a:buNone/>
            </a:pPr>
            <a:r>
              <a:rPr lang="en-US" sz="1200" dirty="0">
                <a:solidFill>
                  <a:srgbClr val="D9DEE7"/>
                </a:solidFill>
                <a:latin typeface="Calibri" pitchFamily="34" charset="0"/>
                <a:ea typeface="Calibri" pitchFamily="34" charset="-122"/>
                <a:cs typeface="Calibri" pitchFamily="34" charset="-120"/>
              </a:rPr>
              <a:t>An operative record where every order, read-back, checklist item and safety event links to the exact second in the audio. PDF, Telegram, email, spoken debrief.</a:t>
            </a:r>
            <a:endParaRPr lang="en-US" sz="1200" dirty="0"/>
          </a:p>
        </p:txBody>
      </p:sp>
      <p:sp>
        <p:nvSpPr>
          <p:cNvPr id="23" name="Shape 19"/>
          <p:cNvSpPr/>
          <p:nvPr/>
        </p:nvSpPr>
        <p:spPr>
          <a:xfrm>
            <a:off x="548640" y="4846320"/>
            <a:ext cx="11094415" cy="1463040"/>
          </a:xfrm>
          <a:prstGeom prst="roundRect">
            <a:avLst>
              <a:gd name="adj" fmla="val 11250"/>
            </a:avLst>
          </a:prstGeom>
          <a:solidFill>
            <a:srgbClr val="FFFFFF">
              <a:alpha val="5000"/>
            </a:srgbClr>
          </a:solidFill>
          <a:ln w="9525">
            <a:solidFill>
              <a:srgbClr val="FFFFFF">
                <a:alpha val="18000"/>
              </a:srgbClr>
            </a:solidFill>
            <a:prstDash val="solid"/>
          </a:ln>
        </p:spPr>
      </p:sp>
      <p:sp>
        <p:nvSpPr>
          <p:cNvPr id="24" name="Text 20"/>
          <p:cNvSpPr txBox="1"/>
          <p:nvPr/>
        </p:nvSpPr>
        <p:spPr>
          <a:xfrm>
            <a:off x="822960" y="4956048"/>
            <a:ext cx="10545775" cy="822960"/>
          </a:xfrm>
          <a:prstGeom prst="rect">
            <a:avLst/>
          </a:prstGeom>
          <a:noFill/>
          <a:ln/>
        </p:spPr>
        <p:txBody>
          <a:bodyPr wrap="square" lIns="0" tIns="0" rIns="0" bIns="0" rtlCol="0" anchor="t">
            <a:normAutofit/>
          </a:bodyPr>
          <a:lstStyle/>
          <a:p>
            <a:pPr indent="0" marL="0">
              <a:buNone/>
            </a:pPr>
            <a:r>
              <a:rPr lang="en-US" sz="1900" i="1" dirty="0">
                <a:solidFill>
                  <a:srgbClr val="FFFFFF"/>
                </a:solidFill>
                <a:latin typeface="Cambria" pitchFamily="34" charset="0"/>
                <a:ea typeface="Cambria" pitchFamily="34" charset="-122"/>
                <a:cs typeface="Cambria" pitchFamily="34" charset="-120"/>
              </a:rPr>
              <a:t>“Safety alert. Read-back dose mismatch. The surgeon ordered one hundred micrograms fentanyl. Anesthesia read back ten micrograms. Please stop and re-confirm.”</a:t>
            </a:r>
            <a:endParaRPr lang="en-US" sz="1900" dirty="0"/>
          </a:p>
        </p:txBody>
      </p:sp>
      <p:sp>
        <p:nvSpPr>
          <p:cNvPr id="25" name="Text 21"/>
          <p:cNvSpPr txBox="1"/>
          <p:nvPr/>
        </p:nvSpPr>
        <p:spPr>
          <a:xfrm>
            <a:off x="822960" y="5833872"/>
            <a:ext cx="10545775" cy="320040"/>
          </a:xfrm>
          <a:prstGeom prst="rect">
            <a:avLst/>
          </a:prstGeom>
          <a:noFill/>
          <a:ln/>
        </p:spPr>
        <p:txBody>
          <a:bodyPr wrap="square" lIns="0" tIns="0" rIns="0" bIns="0" rtlCol="0" anchor="ctr"/>
          <a:lstStyle/>
          <a:p>
            <a:pPr indent="0" marL="0">
              <a:buNone/>
            </a:pPr>
            <a:r>
              <a:rPr lang="en-US" sz="1100" dirty="0">
                <a:solidFill>
                  <a:srgbClr val="9AA3B2"/>
                </a:solidFill>
                <a:latin typeface="Calibri" pitchFamily="34" charset="0"/>
                <a:ea typeface="Calibri" pitchFamily="34" charset="-122"/>
                <a:cs typeface="Calibri" pitchFamily="34" charset="-120"/>
              </a:rPr>
              <a:t>What the room hears about one second after a wrong read-back. This sentence is the product.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04</a:t>
            </a:r>
            <a:endParaRPr lang="en-US" sz="1000" dirty="0"/>
          </a:p>
        </p:txBody>
      </p:sp>
      <p:sp>
        <p:nvSpPr>
          <p:cNvPr id="5" name="Text 1"/>
          <p:cNvSpPr txBox="1"/>
          <p:nvPr/>
        </p:nvSpPr>
        <p:spPr>
          <a:xfrm>
            <a:off x="548640" y="1143000"/>
            <a:ext cx="7315200" cy="274320"/>
          </a:xfrm>
          <a:prstGeom prst="rect">
            <a:avLst/>
          </a:prstGeom>
          <a:noFill/>
          <a:ln/>
        </p:spPr>
        <p:txBody>
          <a:bodyPr wrap="square" lIns="0" tIns="0" rIns="0" bIns="0" rtlCol="0" anchor="ctr"/>
          <a:lstStyle/>
          <a:p>
            <a:pPr indent="0" marL="0">
              <a:buNone/>
            </a:pPr>
            <a:r>
              <a:rPr lang="en-US" sz="1100" spc="400" kern="0" dirty="0">
                <a:solidFill>
                  <a:srgbClr val="9AA3B2"/>
                </a:solidFill>
                <a:latin typeface="Courier New" pitchFamily="34" charset="0"/>
                <a:ea typeface="Courier New" pitchFamily="34" charset="-122"/>
                <a:cs typeface="Courier New" pitchFamily="34" charset="-120"/>
              </a:rPr>
              <a:t>THE COCKPIT</a:t>
            </a:r>
            <a:endParaRPr lang="en-US" sz="1100" dirty="0"/>
          </a:p>
        </p:txBody>
      </p:sp>
      <p:sp>
        <p:nvSpPr>
          <p:cNvPr id="6" name="Shape 2"/>
          <p:cNvSpPr/>
          <p:nvPr/>
        </p:nvSpPr>
        <p:spPr>
          <a:xfrm>
            <a:off x="548640" y="1508760"/>
            <a:ext cx="7040880" cy="4526280"/>
          </a:xfrm>
          <a:prstGeom prst="roundRect">
            <a:avLst>
              <a:gd name="adj" fmla="val 3636"/>
            </a:avLst>
          </a:prstGeom>
          <a:solidFill>
            <a:srgbClr val="FFFFFF">
              <a:alpha val="5000"/>
            </a:srgbClr>
          </a:solidFill>
          <a:ln w="9525">
            <a:solidFill>
              <a:srgbClr val="FFFFFF">
                <a:alpha val="18000"/>
              </a:srgbClr>
            </a:solidFill>
            <a:prstDash val="solid"/>
          </a:ln>
        </p:spPr>
      </p:sp>
      <p:pic>
        <p:nvPicPr>
          <p:cNvPr id="7" name="Image 1" descr="/Users/mrnetwork/Test-It/surgr/deck/img/cockpit.png">    </p:cNvPr>
          <p:cNvPicPr>
            <a:picLocks noChangeAspect="1"/>
          </p:cNvPicPr>
          <p:nvPr/>
        </p:nvPicPr>
        <p:blipFill>
          <a:blip r:embed="rId3"/>
          <a:stretch>
            <a:fillRect/>
          </a:stretch>
        </p:blipFill>
        <p:spPr>
          <a:xfrm>
            <a:off x="658368" y="1618488"/>
            <a:ext cx="6821424" cy="4261104"/>
          </a:xfrm>
          <a:prstGeom prst="rect">
            <a:avLst/>
          </a:prstGeom>
        </p:spPr>
      </p:pic>
      <p:sp>
        <p:nvSpPr>
          <p:cNvPr id="8" name="Text 3"/>
          <p:cNvSpPr txBox="1"/>
          <p:nvPr/>
        </p:nvSpPr>
        <p:spPr>
          <a:xfrm>
            <a:off x="7909560" y="1463040"/>
            <a:ext cx="3749040" cy="1737360"/>
          </a:xfrm>
          <a:prstGeom prst="rect">
            <a:avLst/>
          </a:prstGeom>
          <a:noFill/>
          <a:ln/>
        </p:spPr>
        <p:txBody>
          <a:bodyPr wrap="square" lIns="0" tIns="0" rIns="0" bIns="0" rtlCol="0" anchor="t">
            <a:normAutofit/>
          </a:bodyPr>
          <a:lstStyle/>
          <a:p>
            <a:pPr indent="0" marL="0">
              <a:buNone/>
            </a:pPr>
            <a:r>
              <a:rPr lang="en-US" sz="3000" i="1" dirty="0">
                <a:solidFill>
                  <a:srgbClr val="FFFFFF"/>
                </a:solidFill>
                <a:latin typeface="Cambria" pitchFamily="34" charset="0"/>
                <a:ea typeface="Cambria" pitchFamily="34" charset="-122"/>
                <a:cs typeface="Cambria" pitchFamily="34" charset="-120"/>
              </a:rPr>
              <a:t>One screen for the whole room. Nobody has to look at it.</a:t>
            </a:r>
            <a:endParaRPr lang="en-US" sz="3000" dirty="0"/>
          </a:p>
        </p:txBody>
      </p:sp>
      <p:sp>
        <p:nvSpPr>
          <p:cNvPr id="9" name="Text 4"/>
          <p:cNvSpPr txBox="1"/>
          <p:nvPr/>
        </p:nvSpPr>
        <p:spPr>
          <a:xfrm>
            <a:off x="7909560" y="3291840"/>
            <a:ext cx="3749040" cy="28346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D9DEE7"/>
                </a:solidFill>
                <a:latin typeface="Calibri" pitchFamily="34" charset="0"/>
                <a:ea typeface="Calibri" pitchFamily="34" charset="-122"/>
                <a:cs typeface="Calibri" pitchFamily="34" charset="-120"/>
              </a:rPr>
              <a:t>Transcript by role, every order and read-back tagged as it lands.</a:t>
            </a:r>
            <a:endParaRPr lang="en-US" sz="1350" dirty="0"/>
          </a:p>
          <a:p>
            <a:pPr marL="342900" indent="-342900">
              <a:spcAft>
                <a:spcPts val="800"/>
              </a:spcAft>
              <a:buSzPct val="100000"/>
              <a:buChar char="•"/>
            </a:pPr>
            <a:r>
              <a:rPr lang="en-US" sz="1350" dirty="0">
                <a:solidFill>
                  <a:srgbClr val="D9DEE7"/>
                </a:solidFill>
                <a:latin typeface="Calibri" pitchFamily="34" charset="0"/>
                <a:ea typeface="Calibri" pitchFamily="34" charset="-122"/>
                <a:cs typeface="Calibri" pitchFamily="34" charset="-120"/>
              </a:rPr>
              <a:t>Order board with a ten-second countdown; a mismatch goes red and stays red until a correct read-back arrives.</a:t>
            </a:r>
            <a:endParaRPr lang="en-US" sz="1350" dirty="0"/>
          </a:p>
          <a:p>
            <a:pPr marL="342900" indent="-342900">
              <a:spcAft>
                <a:spcPts val="800"/>
              </a:spcAft>
              <a:buSzPct val="100000"/>
              <a:buChar char="•"/>
            </a:pPr>
            <a:r>
              <a:rPr lang="en-US" sz="1350" dirty="0">
                <a:solidFill>
                  <a:srgbClr val="D9DEE7"/>
                </a:solidFill>
                <a:latin typeface="Calibri" pitchFamily="34" charset="0"/>
                <a:ea typeface="Calibri" pitchFamily="34" charset="-122"/>
                <a:cs typeface="Calibri" pitchFamily="34" charset="-120"/>
              </a:rPr>
              <a:t>WHO checklist that ticks itself from speech; a phase that ends with gaps, or an incision without a Time Out, raises a spoken alert.</a:t>
            </a:r>
            <a:endParaRPr lang="en-US" sz="1350" dirty="0"/>
          </a:p>
          <a:p>
            <a:pPr marL="342900" indent="-342900">
              <a:spcAft>
                <a:spcPts val="800"/>
              </a:spcAft>
              <a:buSzPct val="100000"/>
              <a:buChar char="•"/>
            </a:pPr>
            <a:r>
              <a:rPr lang="en-US" sz="1350" dirty="0">
                <a:solidFill>
                  <a:srgbClr val="D9DEE7"/>
                </a:solidFill>
                <a:latin typeface="Calibri" pitchFamily="34" charset="0"/>
                <a:ea typeface="Calibri" pitchFamily="34" charset="-122"/>
                <a:cs typeface="Calibri" pitchFamily="34" charset="-120"/>
              </a:rPr>
              <a:t>Simulator with nine scripted scenarios so any judge can trigger a wrong dose without an operating room.</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05</a:t>
            </a:r>
            <a:endParaRPr lang="en-US" sz="1000" dirty="0"/>
          </a:p>
        </p:txBody>
      </p:sp>
      <p:sp>
        <p:nvSpPr>
          <p:cNvPr id="5" name="Text 1"/>
          <p:cNvSpPr txBox="1"/>
          <p:nvPr/>
        </p:nvSpPr>
        <p:spPr>
          <a:xfrm>
            <a:off x="548640" y="1143000"/>
            <a:ext cx="7315200" cy="274320"/>
          </a:xfrm>
          <a:prstGeom prst="rect">
            <a:avLst/>
          </a:prstGeom>
          <a:noFill/>
          <a:ln/>
        </p:spPr>
        <p:txBody>
          <a:bodyPr wrap="square" lIns="0" tIns="0" rIns="0" bIns="0" rtlCol="0" anchor="ctr"/>
          <a:lstStyle/>
          <a:p>
            <a:pPr indent="0" marL="0">
              <a:buNone/>
            </a:pPr>
            <a:r>
              <a:rPr lang="en-US" sz="1100" spc="400" kern="0" dirty="0">
                <a:solidFill>
                  <a:srgbClr val="9AA3B2"/>
                </a:solidFill>
                <a:latin typeface="Courier New" pitchFamily="34" charset="0"/>
                <a:ea typeface="Courier New" pitchFamily="34" charset="-122"/>
                <a:cs typeface="Courier New" pitchFamily="34" charset="-120"/>
              </a:rPr>
              <a:t>ASK SURGR</a:t>
            </a:r>
            <a:endParaRPr lang="en-US" sz="1100" dirty="0"/>
          </a:p>
        </p:txBody>
      </p:sp>
      <p:sp>
        <p:nvSpPr>
          <p:cNvPr id="6" name="Text 2"/>
          <p:cNvSpPr txBox="1"/>
          <p:nvPr/>
        </p:nvSpPr>
        <p:spPr>
          <a:xfrm>
            <a:off x="548640" y="1417320"/>
            <a:ext cx="5669280" cy="1097280"/>
          </a:xfrm>
          <a:prstGeom prst="rect">
            <a:avLst/>
          </a:prstGeom>
          <a:noFill/>
          <a:ln/>
        </p:spPr>
        <p:txBody>
          <a:bodyPr wrap="square" lIns="0" tIns="0" rIns="0" bIns="0" rtlCol="0" anchor="t">
            <a:normAutofit/>
          </a:bodyPr>
          <a:lstStyle/>
          <a:p>
            <a:pPr indent="0" marL="0">
              <a:buNone/>
            </a:pPr>
            <a:r>
              <a:rPr lang="en-US" sz="3400" i="1" dirty="0">
                <a:solidFill>
                  <a:srgbClr val="FFFFFF"/>
                </a:solidFill>
                <a:latin typeface="Cambria" pitchFamily="34" charset="0"/>
                <a:ea typeface="Cambria" pitchFamily="34" charset="-122"/>
                <a:cs typeface="Cambria" pitchFamily="34" charset="-120"/>
              </a:rPr>
              <a:t>The room can ask it questions</a:t>
            </a:r>
            <a:endParaRPr lang="en-US" sz="3400" dirty="0"/>
          </a:p>
        </p:txBody>
      </p:sp>
      <p:sp>
        <p:nvSpPr>
          <p:cNvPr id="7" name="Text 3"/>
          <p:cNvSpPr txBox="1"/>
          <p:nvPr/>
        </p:nvSpPr>
        <p:spPr>
          <a:xfrm>
            <a:off x="548640" y="2606040"/>
            <a:ext cx="5669280" cy="1188720"/>
          </a:xfrm>
          <a:prstGeom prst="rect">
            <a:avLst/>
          </a:prstGeom>
          <a:noFill/>
          <a:ln/>
        </p:spPr>
        <p:txBody>
          <a:bodyPr wrap="square" lIns="0" tIns="0" rIns="0" bIns="0" rtlCol="0" anchor="t">
            <a:normAutofit/>
          </a:bodyPr>
          <a:lstStyle/>
          <a:p>
            <a:pPr indent="0" marL="0">
              <a:spcAft>
                <a:spcPts val="400"/>
              </a:spcAft>
              <a:buNone/>
            </a:pPr>
            <a:r>
              <a:rPr lang="en-US" sz="1450" dirty="0">
                <a:solidFill>
                  <a:srgbClr val="D9DEE7"/>
                </a:solidFill>
                <a:latin typeface="Calibri" pitchFamily="34" charset="0"/>
                <a:ea typeface="Calibri" pitchFamily="34" charset="-122"/>
                <a:cs typeface="Calibri" pitchFamily="34" charset="-120"/>
              </a:rPr>
              <a:t>The Voice Agent listens to the room for the whole case. Anything not addressed to Surgr is answered with silence, discarded before it plays. Say its name and it answers from live state through JSON-schema tools.</a:t>
            </a:r>
            <a:endParaRPr lang="en-US" sz="1450" dirty="0"/>
          </a:p>
        </p:txBody>
      </p:sp>
      <p:sp>
        <p:nvSpPr>
          <p:cNvPr id="8" name="Shape 4"/>
          <p:cNvSpPr/>
          <p:nvPr/>
        </p:nvSpPr>
        <p:spPr>
          <a:xfrm>
            <a:off x="548640" y="3977640"/>
            <a:ext cx="1828800" cy="329184"/>
          </a:xfrm>
          <a:prstGeom prst="roundRect">
            <a:avLst>
              <a:gd name="adj" fmla="val 50000"/>
            </a:avLst>
          </a:prstGeom>
          <a:solidFill>
            <a:srgbClr val="FFFFFF">
              <a:alpha val="5000"/>
            </a:srgbClr>
          </a:solidFill>
          <a:ln w="9525">
            <a:solidFill>
              <a:srgbClr val="FFFFFF">
                <a:alpha val="25000"/>
              </a:srgbClr>
            </a:solidFill>
            <a:prstDash val="solid"/>
          </a:ln>
        </p:spPr>
      </p:sp>
      <p:sp>
        <p:nvSpPr>
          <p:cNvPr id="9" name="Text 5"/>
          <p:cNvSpPr txBox="1"/>
          <p:nvPr/>
        </p:nvSpPr>
        <p:spPr>
          <a:xfrm>
            <a:off x="548640" y="3977640"/>
            <a:ext cx="182880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get_open_orders</a:t>
            </a:r>
            <a:endParaRPr lang="en-US" sz="950" dirty="0"/>
          </a:p>
        </p:txBody>
      </p:sp>
      <p:sp>
        <p:nvSpPr>
          <p:cNvPr id="10" name="Shape 6"/>
          <p:cNvSpPr/>
          <p:nvPr/>
        </p:nvSpPr>
        <p:spPr>
          <a:xfrm>
            <a:off x="2468880" y="3977640"/>
            <a:ext cx="1828800" cy="329184"/>
          </a:xfrm>
          <a:prstGeom prst="roundRect">
            <a:avLst>
              <a:gd name="adj" fmla="val 50000"/>
            </a:avLst>
          </a:prstGeom>
          <a:solidFill>
            <a:srgbClr val="FFFFFF">
              <a:alpha val="5000"/>
            </a:srgbClr>
          </a:solidFill>
          <a:ln w="9525">
            <a:solidFill>
              <a:srgbClr val="FFFFFF">
                <a:alpha val="25000"/>
              </a:srgbClr>
            </a:solidFill>
            <a:prstDash val="solid"/>
          </a:ln>
        </p:spPr>
      </p:sp>
      <p:sp>
        <p:nvSpPr>
          <p:cNvPr id="11" name="Text 7"/>
          <p:cNvSpPr txBox="1"/>
          <p:nvPr/>
        </p:nvSpPr>
        <p:spPr>
          <a:xfrm>
            <a:off x="2468880" y="3977640"/>
            <a:ext cx="182880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get_last_order</a:t>
            </a:r>
            <a:endParaRPr lang="en-US" sz="950" dirty="0"/>
          </a:p>
        </p:txBody>
      </p:sp>
      <p:sp>
        <p:nvSpPr>
          <p:cNvPr id="12" name="Shape 8"/>
          <p:cNvSpPr/>
          <p:nvPr/>
        </p:nvSpPr>
        <p:spPr>
          <a:xfrm>
            <a:off x="4389120" y="3977640"/>
            <a:ext cx="1828800" cy="329184"/>
          </a:xfrm>
          <a:prstGeom prst="roundRect">
            <a:avLst>
              <a:gd name="adj" fmla="val 50000"/>
            </a:avLst>
          </a:prstGeom>
          <a:solidFill>
            <a:srgbClr val="FFFFFF">
              <a:alpha val="5000"/>
            </a:srgbClr>
          </a:solidFill>
          <a:ln w="9525">
            <a:solidFill>
              <a:srgbClr val="FFFFFF">
                <a:alpha val="25000"/>
              </a:srgbClr>
            </a:solidFill>
            <a:prstDash val="solid"/>
          </a:ln>
        </p:spPr>
      </p:sp>
      <p:sp>
        <p:nvSpPr>
          <p:cNvPr id="13" name="Text 9"/>
          <p:cNvSpPr txBox="1"/>
          <p:nvPr/>
        </p:nvSpPr>
        <p:spPr>
          <a:xfrm>
            <a:off x="4389120" y="3977640"/>
            <a:ext cx="182880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get_checklist_status</a:t>
            </a:r>
            <a:endParaRPr lang="en-US" sz="950" dirty="0"/>
          </a:p>
        </p:txBody>
      </p:sp>
      <p:sp>
        <p:nvSpPr>
          <p:cNvPr id="14" name="Shape 10"/>
          <p:cNvSpPr/>
          <p:nvPr/>
        </p:nvSpPr>
        <p:spPr>
          <a:xfrm>
            <a:off x="548640" y="4416552"/>
            <a:ext cx="1828800" cy="329184"/>
          </a:xfrm>
          <a:prstGeom prst="roundRect">
            <a:avLst>
              <a:gd name="adj" fmla="val 50000"/>
            </a:avLst>
          </a:prstGeom>
          <a:solidFill>
            <a:srgbClr val="FFFFFF">
              <a:alpha val="5000"/>
            </a:srgbClr>
          </a:solidFill>
          <a:ln w="9525">
            <a:solidFill>
              <a:srgbClr val="FFFFFF">
                <a:alpha val="25000"/>
              </a:srgbClr>
            </a:solidFill>
            <a:prstDash val="solid"/>
          </a:ln>
        </p:spPr>
      </p:sp>
      <p:sp>
        <p:nvSpPr>
          <p:cNvPr id="15" name="Text 11"/>
          <p:cNvSpPr txBox="1"/>
          <p:nvPr/>
        </p:nvSpPr>
        <p:spPr>
          <a:xfrm>
            <a:off x="548640" y="4416552"/>
            <a:ext cx="182880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get_session_summary</a:t>
            </a:r>
            <a:endParaRPr lang="en-US" sz="950" dirty="0"/>
          </a:p>
        </p:txBody>
      </p:sp>
      <p:sp>
        <p:nvSpPr>
          <p:cNvPr id="16" name="Shape 12"/>
          <p:cNvSpPr/>
          <p:nvPr/>
        </p:nvSpPr>
        <p:spPr>
          <a:xfrm>
            <a:off x="2468880" y="4416552"/>
            <a:ext cx="1828800" cy="329184"/>
          </a:xfrm>
          <a:prstGeom prst="roundRect">
            <a:avLst>
              <a:gd name="adj" fmla="val 50000"/>
            </a:avLst>
          </a:prstGeom>
          <a:solidFill>
            <a:srgbClr val="FFFFFF">
              <a:alpha val="5000"/>
            </a:srgbClr>
          </a:solidFill>
          <a:ln w="9525">
            <a:solidFill>
              <a:srgbClr val="FFFFFF">
                <a:alpha val="25000"/>
              </a:srgbClr>
            </a:solidFill>
            <a:prstDash val="solid"/>
          </a:ln>
        </p:spPr>
      </p:sp>
      <p:sp>
        <p:nvSpPr>
          <p:cNvPr id="17" name="Text 13"/>
          <p:cNvSpPr txBox="1"/>
          <p:nvPr/>
        </p:nvSpPr>
        <p:spPr>
          <a:xfrm>
            <a:off x="2468880" y="4416552"/>
            <a:ext cx="182880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get_recent_alerts</a:t>
            </a:r>
            <a:endParaRPr lang="en-US" sz="950" dirty="0"/>
          </a:p>
        </p:txBody>
      </p:sp>
      <p:sp>
        <p:nvSpPr>
          <p:cNvPr id="18" name="Shape 14"/>
          <p:cNvSpPr/>
          <p:nvPr/>
        </p:nvSpPr>
        <p:spPr>
          <a:xfrm>
            <a:off x="4389120" y="4416552"/>
            <a:ext cx="1828800" cy="329184"/>
          </a:xfrm>
          <a:prstGeom prst="roundRect">
            <a:avLst>
              <a:gd name="adj" fmla="val 50000"/>
            </a:avLst>
          </a:prstGeom>
          <a:solidFill>
            <a:srgbClr val="FFFFFF">
              <a:alpha val="5000"/>
            </a:srgbClr>
          </a:solidFill>
          <a:ln w="9525">
            <a:solidFill>
              <a:srgbClr val="FFFFFF">
                <a:alpha val="25000"/>
              </a:srgbClr>
            </a:solidFill>
            <a:prstDash val="solid"/>
          </a:ln>
        </p:spPr>
      </p:sp>
      <p:sp>
        <p:nvSpPr>
          <p:cNvPr id="19" name="Text 15"/>
          <p:cNvSpPr txBox="1"/>
          <p:nvPr/>
        </p:nvSpPr>
        <p:spPr>
          <a:xfrm>
            <a:off x="4389120" y="4416552"/>
            <a:ext cx="182880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acknowledge_alerts</a:t>
            </a:r>
            <a:endParaRPr lang="en-US" sz="950" dirty="0"/>
          </a:p>
        </p:txBody>
      </p:sp>
      <p:sp>
        <p:nvSpPr>
          <p:cNvPr id="20" name="Shape 16"/>
          <p:cNvSpPr/>
          <p:nvPr/>
        </p:nvSpPr>
        <p:spPr>
          <a:xfrm>
            <a:off x="6675120" y="1463040"/>
            <a:ext cx="4983480" cy="2377440"/>
          </a:xfrm>
          <a:prstGeom prst="roundRect">
            <a:avLst>
              <a:gd name="adj" fmla="val 6923"/>
            </a:avLst>
          </a:prstGeom>
          <a:solidFill>
            <a:srgbClr val="FFFFFF">
              <a:alpha val="5000"/>
            </a:srgbClr>
          </a:solidFill>
          <a:ln w="9525">
            <a:solidFill>
              <a:srgbClr val="FFFFFF">
                <a:alpha val="18000"/>
              </a:srgbClr>
            </a:solidFill>
            <a:prstDash val="solid"/>
          </a:ln>
        </p:spPr>
      </p:sp>
      <p:pic>
        <p:nvPicPr>
          <p:cNvPr id="21" name="Image 1" descr="/Users/mrnetwork/Test-It/surgr/deck/img/ask.png">    </p:cNvPr>
          <p:cNvPicPr>
            <a:picLocks noChangeAspect="1"/>
          </p:cNvPicPr>
          <p:nvPr/>
        </p:nvPicPr>
        <p:blipFill>
          <a:blip r:embed="rId3"/>
          <a:stretch>
            <a:fillRect/>
          </a:stretch>
        </p:blipFill>
        <p:spPr>
          <a:xfrm>
            <a:off x="6858000" y="1691640"/>
            <a:ext cx="4617720" cy="1591898"/>
          </a:xfrm>
          <a:prstGeom prst="rect">
            <a:avLst/>
          </a:prstGeom>
        </p:spPr>
      </p:pic>
      <p:sp>
        <p:nvSpPr>
          <p:cNvPr id="22" name="Shape 17"/>
          <p:cNvSpPr/>
          <p:nvPr/>
        </p:nvSpPr>
        <p:spPr>
          <a:xfrm>
            <a:off x="548640" y="5074920"/>
            <a:ext cx="11094415" cy="1280160"/>
          </a:xfrm>
          <a:prstGeom prst="roundRect">
            <a:avLst>
              <a:gd name="adj" fmla="val 12857"/>
            </a:avLst>
          </a:prstGeom>
          <a:solidFill>
            <a:srgbClr val="FFFFFF">
              <a:alpha val="5000"/>
            </a:srgbClr>
          </a:solidFill>
          <a:ln w="9525">
            <a:solidFill>
              <a:srgbClr val="FFFFFF">
                <a:alpha val="18000"/>
              </a:srgbClr>
            </a:solidFill>
            <a:prstDash val="solid"/>
          </a:ln>
        </p:spPr>
      </p:sp>
      <p:sp>
        <p:nvSpPr>
          <p:cNvPr id="23" name="Text 18"/>
          <p:cNvSpPr txBox="1"/>
          <p:nvPr/>
        </p:nvSpPr>
        <p:spPr>
          <a:xfrm>
            <a:off x="822960" y="5166360"/>
            <a:ext cx="10545775" cy="640080"/>
          </a:xfrm>
          <a:prstGeom prst="rect">
            <a:avLst/>
          </a:prstGeom>
          <a:noFill/>
          <a:ln/>
        </p:spPr>
        <p:txBody>
          <a:bodyPr wrap="square" lIns="0" tIns="0" rIns="0" bIns="0" rtlCol="0" anchor="t">
            <a:normAutofit/>
          </a:bodyPr>
          <a:lstStyle/>
          <a:p>
            <a:pPr indent="0" marL="0">
              <a:buNone/>
            </a:pPr>
            <a:r>
              <a:rPr lang="en-US" sz="2000" i="1" dirty="0">
                <a:solidFill>
                  <a:srgbClr val="FFFFFF"/>
                </a:solidFill>
                <a:latin typeface="Cambria" pitchFamily="34" charset="0"/>
                <a:ea typeface="Cambria" pitchFamily="34" charset="-122"/>
                <a:cs typeface="Cambria" pitchFamily="34" charset="-120"/>
              </a:rPr>
              <a:t>“Surgr, what is still open?”   →   “You have one open order for two grams of cefazolin.”</a:t>
            </a:r>
            <a:endParaRPr lang="en-US" sz="2000" dirty="0"/>
          </a:p>
        </p:txBody>
      </p:sp>
      <p:sp>
        <p:nvSpPr>
          <p:cNvPr id="24" name="Text 19"/>
          <p:cNvSpPr txBox="1"/>
          <p:nvPr/>
        </p:nvSpPr>
        <p:spPr>
          <a:xfrm>
            <a:off x="822960" y="5870448"/>
            <a:ext cx="10545775" cy="320040"/>
          </a:xfrm>
          <a:prstGeom prst="rect">
            <a:avLst/>
          </a:prstGeom>
          <a:noFill/>
          <a:ln/>
        </p:spPr>
        <p:txBody>
          <a:bodyPr wrap="square" lIns="0" tIns="0" rIns="0" bIns="0" rtlCol="0" anchor="ctr"/>
          <a:lstStyle/>
          <a:p>
            <a:pPr indent="0" marL="0">
              <a:buNone/>
            </a:pPr>
            <a:r>
              <a:rPr lang="en-US" sz="1100" dirty="0">
                <a:solidFill>
                  <a:srgbClr val="9AA3B2"/>
                </a:solidFill>
                <a:latin typeface="Calibri" pitchFamily="34" charset="0"/>
                <a:ea typeface="Calibri" pitchFamily="34" charset="-122"/>
                <a:cs typeface="Calibri" pitchFamily="34" charset="-120"/>
              </a:rPr>
              <a:t>Verified against the live Voice Agent API: tool call issued, result returned, answer spoken.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06</a:t>
            </a:r>
            <a:endParaRPr lang="en-US" sz="1000" dirty="0"/>
          </a:p>
        </p:txBody>
      </p:sp>
      <p:sp>
        <p:nvSpPr>
          <p:cNvPr id="5" name="Text 1"/>
          <p:cNvSpPr txBox="1"/>
          <p:nvPr/>
        </p:nvSpPr>
        <p:spPr>
          <a:xfrm>
            <a:off x="548640" y="1143000"/>
            <a:ext cx="7315200" cy="274320"/>
          </a:xfrm>
          <a:prstGeom prst="rect">
            <a:avLst/>
          </a:prstGeom>
          <a:noFill/>
          <a:ln/>
        </p:spPr>
        <p:txBody>
          <a:bodyPr wrap="square" lIns="0" tIns="0" rIns="0" bIns="0" rtlCol="0" anchor="ctr"/>
          <a:lstStyle/>
          <a:p>
            <a:pPr indent="0" marL="0">
              <a:buNone/>
            </a:pPr>
            <a:r>
              <a:rPr lang="en-US" sz="1100" spc="400" kern="0" dirty="0">
                <a:solidFill>
                  <a:srgbClr val="9AA3B2"/>
                </a:solidFill>
                <a:latin typeface="Courier New" pitchFamily="34" charset="0"/>
                <a:ea typeface="Courier New" pitchFamily="34" charset="-122"/>
                <a:cs typeface="Courier New" pitchFamily="34" charset="-120"/>
              </a:rPr>
              <a:t>THE RECORD</a:t>
            </a:r>
            <a:endParaRPr lang="en-US" sz="1100" dirty="0"/>
          </a:p>
        </p:txBody>
      </p:sp>
      <p:sp>
        <p:nvSpPr>
          <p:cNvPr id="6" name="Shape 2"/>
          <p:cNvSpPr/>
          <p:nvPr/>
        </p:nvSpPr>
        <p:spPr>
          <a:xfrm>
            <a:off x="548640" y="1508760"/>
            <a:ext cx="5486400" cy="4846320"/>
          </a:xfrm>
          <a:prstGeom prst="roundRect">
            <a:avLst>
              <a:gd name="adj" fmla="val 3396"/>
            </a:avLst>
          </a:prstGeom>
          <a:solidFill>
            <a:srgbClr val="FFFFFF">
              <a:alpha val="5000"/>
            </a:srgbClr>
          </a:solidFill>
          <a:ln w="9525">
            <a:solidFill>
              <a:srgbClr val="FFFFFF">
                <a:alpha val="18000"/>
              </a:srgbClr>
            </a:solidFill>
            <a:prstDash val="solid"/>
          </a:ln>
        </p:spPr>
      </p:sp>
      <p:pic>
        <p:nvPicPr>
          <p:cNvPr id="7" name="Image 1" descr="/Users/mrnetwork/Test-It/surgr/deck/img/report.png">    </p:cNvPr>
          <p:cNvPicPr>
            <a:picLocks noChangeAspect="1"/>
          </p:cNvPicPr>
          <p:nvPr/>
        </p:nvPicPr>
        <p:blipFill>
          <a:blip r:embed="rId3"/>
          <a:stretch>
            <a:fillRect/>
          </a:stretch>
        </p:blipFill>
        <p:spPr>
          <a:xfrm>
            <a:off x="764561" y="1618488"/>
            <a:ext cx="5054557" cy="4626864"/>
          </a:xfrm>
          <a:prstGeom prst="rect">
            <a:avLst/>
          </a:prstGeom>
        </p:spPr>
      </p:pic>
      <p:sp>
        <p:nvSpPr>
          <p:cNvPr id="8" name="Text 3"/>
          <p:cNvSpPr txBox="1"/>
          <p:nvPr/>
        </p:nvSpPr>
        <p:spPr>
          <a:xfrm>
            <a:off x="6400800" y="1463040"/>
            <a:ext cx="5257800" cy="1051560"/>
          </a:xfrm>
          <a:prstGeom prst="rect">
            <a:avLst/>
          </a:prstGeom>
          <a:noFill/>
          <a:ln/>
        </p:spPr>
        <p:txBody>
          <a:bodyPr wrap="square" lIns="0" tIns="0" rIns="0" bIns="0" rtlCol="0" anchor="t">
            <a:normAutofit/>
          </a:bodyPr>
          <a:lstStyle/>
          <a:p>
            <a:pPr indent="0" marL="0">
              <a:buNone/>
            </a:pPr>
            <a:r>
              <a:rPr lang="en-US" sz="3400" i="1" dirty="0">
                <a:solidFill>
                  <a:srgbClr val="FFFFFF"/>
                </a:solidFill>
                <a:latin typeface="Cambria" pitchFamily="34" charset="0"/>
                <a:ea typeface="Cambria" pitchFamily="34" charset="-122"/>
                <a:cs typeface="Cambria" pitchFamily="34" charset="-120"/>
              </a:rPr>
              <a:t>The audit writes itself</a:t>
            </a:r>
            <a:endParaRPr lang="en-US" sz="3400" dirty="0"/>
          </a:p>
        </p:txBody>
      </p:sp>
      <p:sp>
        <p:nvSpPr>
          <p:cNvPr id="9" name="Text 4"/>
          <p:cNvSpPr txBox="1"/>
          <p:nvPr/>
        </p:nvSpPr>
        <p:spPr>
          <a:xfrm>
            <a:off x="6400800" y="2651760"/>
            <a:ext cx="5257800" cy="34747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D9DEE7"/>
                </a:solidFill>
                <a:latin typeface="Calibri" pitchFamily="34" charset="0"/>
                <a:ea typeface="Calibri" pitchFamily="34" charset="-122"/>
                <a:cs typeface="Calibri" pitchFamily="34" charset="-120"/>
              </a:rPr>
              <a:t>Closed-loop rate, mean read-back time, every medication with order and read-back timestamps.</a:t>
            </a:r>
            <a:endParaRPr lang="en-US" sz="1400" dirty="0"/>
          </a:p>
          <a:p>
            <a:pPr marL="342900" indent="-342900">
              <a:spcAft>
                <a:spcPts val="800"/>
              </a:spcAft>
              <a:buSzPct val="100000"/>
              <a:buChar char="•"/>
            </a:pPr>
            <a:r>
              <a:rPr lang="en-US" sz="1400" dirty="0">
                <a:solidFill>
                  <a:srgbClr val="D9DEE7"/>
                </a:solidFill>
                <a:latin typeface="Calibri" pitchFamily="34" charset="0"/>
                <a:ea typeface="Calibri" pitchFamily="34" charset="-122"/>
                <a:cs typeface="Calibri" pitchFamily="34" charset="-120"/>
              </a:rPr>
              <a:t>WHO compliance per phase, safety events with how they were resolved, recommendations.</a:t>
            </a:r>
            <a:endParaRPr lang="en-US" sz="1400" dirty="0"/>
          </a:p>
          <a:p>
            <a:pPr marL="342900" indent="-342900">
              <a:spcAft>
                <a:spcPts val="800"/>
              </a:spcAft>
              <a:buSzPct val="100000"/>
              <a:buChar char="•"/>
            </a:pPr>
            <a:r>
              <a:rPr lang="en-US" sz="1400" dirty="0">
                <a:solidFill>
                  <a:srgbClr val="D9DEE7"/>
                </a:solidFill>
                <a:latin typeface="Calibri" pitchFamily="34" charset="0"/>
                <a:ea typeface="Calibri" pitchFamily="34" charset="-122"/>
                <a:cs typeface="Calibri" pitchFamily="34" charset="-120"/>
              </a:rPr>
              <a:t>Facts and timestamps always come from Surgr's own state; the LLM only writes narrative, and the record says so.</a:t>
            </a:r>
            <a:endParaRPr lang="en-US" sz="1400" dirty="0"/>
          </a:p>
          <a:p>
            <a:pPr marL="342900" indent="-342900">
              <a:spcAft>
                <a:spcPts val="800"/>
              </a:spcAft>
              <a:buSzPct val="100000"/>
              <a:buChar char="•"/>
            </a:pPr>
            <a:r>
              <a:rPr lang="en-US" sz="1400" dirty="0">
                <a:solidFill>
                  <a:srgbClr val="D9DEE7"/>
                </a:solidFill>
                <a:latin typeface="Calibri" pitchFamily="34" charset="0"/>
                <a:ea typeface="Calibri" pitchFamily="34" charset="-122"/>
                <a:cs typeface="Calibri" pitchFamily="34" charset="-120"/>
              </a:rPr>
              <a:t>Delivered as PDF, to Telegram, by email, through the device share sheet, or read aloud as a spoken debrief.</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07</a:t>
            </a:r>
            <a:endParaRPr lang="en-US" sz="1000" dirty="0"/>
          </a:p>
        </p:txBody>
      </p:sp>
      <p:sp>
        <p:nvSpPr>
          <p:cNvPr id="5" name="Text 1"/>
          <p:cNvSpPr txBox="1"/>
          <p:nvPr/>
        </p:nvSpPr>
        <p:spPr>
          <a:xfrm>
            <a:off x="548640" y="1143000"/>
            <a:ext cx="7315200" cy="274320"/>
          </a:xfrm>
          <a:prstGeom prst="rect">
            <a:avLst/>
          </a:prstGeom>
          <a:noFill/>
          <a:ln/>
        </p:spPr>
        <p:txBody>
          <a:bodyPr wrap="square" lIns="0" tIns="0" rIns="0" bIns="0" rtlCol="0" anchor="ctr"/>
          <a:lstStyle/>
          <a:p>
            <a:pPr indent="0" marL="0">
              <a:buNone/>
            </a:pPr>
            <a:r>
              <a:rPr lang="en-US" sz="1100" spc="400" kern="0" dirty="0">
                <a:solidFill>
                  <a:srgbClr val="9AA3B2"/>
                </a:solidFill>
                <a:latin typeface="Courier New" pitchFamily="34" charset="0"/>
                <a:ea typeface="Courier New" pitchFamily="34" charset="-122"/>
                <a:cs typeface="Courier New" pitchFamily="34" charset="-120"/>
              </a:rPr>
              <a:t>BUILT ON ASSEMBLYAI</a:t>
            </a:r>
            <a:endParaRPr lang="en-US" sz="1100" dirty="0"/>
          </a:p>
        </p:txBody>
      </p:sp>
      <p:sp>
        <p:nvSpPr>
          <p:cNvPr id="6" name="Text 2"/>
          <p:cNvSpPr txBox="1"/>
          <p:nvPr/>
        </p:nvSpPr>
        <p:spPr>
          <a:xfrm>
            <a:off x="548640" y="1417320"/>
            <a:ext cx="11094415" cy="731520"/>
          </a:xfrm>
          <a:prstGeom prst="rect">
            <a:avLst/>
          </a:prstGeom>
          <a:noFill/>
          <a:ln/>
        </p:spPr>
        <p:txBody>
          <a:bodyPr wrap="square" lIns="0" tIns="0" rIns="0" bIns="0" rtlCol="0" anchor="t">
            <a:normAutofit/>
          </a:bodyPr>
          <a:lstStyle/>
          <a:p>
            <a:pPr indent="0" marL="0">
              <a:buNone/>
            </a:pPr>
            <a:r>
              <a:rPr lang="en-US" sz="4000" i="1" dirty="0">
                <a:solidFill>
                  <a:srgbClr val="FFFFFF"/>
                </a:solidFill>
                <a:latin typeface="Cambria" pitchFamily="34" charset="0"/>
                <a:ea typeface="Cambria" pitchFamily="34" charset="-122"/>
                <a:cs typeface="Cambria" pitchFamily="34" charset="-120"/>
              </a:rPr>
              <a:t>Four products, one safety loop</a:t>
            </a:r>
            <a:endParaRPr lang="en-US" sz="4000" dirty="0"/>
          </a:p>
        </p:txBody>
      </p:sp>
      <p:sp>
        <p:nvSpPr>
          <p:cNvPr id="7" name="Shape 3"/>
          <p:cNvSpPr/>
          <p:nvPr/>
        </p:nvSpPr>
        <p:spPr>
          <a:xfrm>
            <a:off x="548640" y="2240280"/>
            <a:ext cx="2066544" cy="329184"/>
          </a:xfrm>
          <a:prstGeom prst="roundRect">
            <a:avLst>
              <a:gd name="adj" fmla="val 50000"/>
            </a:avLst>
          </a:prstGeom>
          <a:solidFill>
            <a:srgbClr val="FFFFFF">
              <a:alpha val="5000"/>
            </a:srgbClr>
          </a:solidFill>
          <a:ln w="9525">
            <a:solidFill>
              <a:srgbClr val="FFFFFF">
                <a:alpha val="25000"/>
              </a:srgbClr>
            </a:solidFill>
            <a:prstDash val="solid"/>
          </a:ln>
        </p:spPr>
      </p:sp>
      <p:sp>
        <p:nvSpPr>
          <p:cNvPr id="8" name="Text 4"/>
          <p:cNvSpPr txBox="1"/>
          <p:nvPr/>
        </p:nvSpPr>
        <p:spPr>
          <a:xfrm>
            <a:off x="548640" y="2240280"/>
            <a:ext cx="2066544"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Room mic</a:t>
            </a:r>
            <a:endParaRPr lang="en-US" sz="1000" dirty="0"/>
          </a:p>
        </p:txBody>
      </p:sp>
      <p:sp>
        <p:nvSpPr>
          <p:cNvPr id="9" name="Text 5"/>
          <p:cNvSpPr txBox="1"/>
          <p:nvPr/>
        </p:nvSpPr>
        <p:spPr>
          <a:xfrm>
            <a:off x="2670048" y="2240280"/>
            <a:ext cx="274320" cy="329184"/>
          </a:xfrm>
          <a:prstGeom prst="rect">
            <a:avLst/>
          </a:prstGeom>
          <a:noFill/>
          <a:ln/>
        </p:spPr>
        <p:txBody>
          <a:bodyPr wrap="square" lIns="0" tIns="0" rIns="0" bIns="0" rtlCol="0" anchor="ctr"/>
          <a:lstStyle/>
          <a:p>
            <a:pPr algn="ctr" indent="0" marL="0">
              <a:buNone/>
            </a:pPr>
            <a:r>
              <a:rPr lang="en-US" sz="1200" dirty="0">
                <a:solidFill>
                  <a:srgbClr val="2DD4BF"/>
                </a:solidFill>
              </a:rPr>
              <a:t>→</a:t>
            </a:r>
            <a:endParaRPr lang="en-US" sz="1200" dirty="0"/>
          </a:p>
        </p:txBody>
      </p:sp>
      <p:sp>
        <p:nvSpPr>
          <p:cNvPr id="10" name="Shape 6"/>
          <p:cNvSpPr/>
          <p:nvPr/>
        </p:nvSpPr>
        <p:spPr>
          <a:xfrm>
            <a:off x="2999232" y="2240280"/>
            <a:ext cx="3675888" cy="329184"/>
          </a:xfrm>
          <a:prstGeom prst="roundRect">
            <a:avLst>
              <a:gd name="adj" fmla="val 50000"/>
            </a:avLst>
          </a:prstGeom>
          <a:solidFill>
            <a:srgbClr val="FFFFFF">
              <a:alpha val="5000"/>
            </a:srgbClr>
          </a:solidFill>
          <a:ln w="9525">
            <a:solidFill>
              <a:srgbClr val="FFFFFF">
                <a:alpha val="25000"/>
              </a:srgbClr>
            </a:solidFill>
            <a:prstDash val="solid"/>
          </a:ln>
        </p:spPr>
      </p:sp>
      <p:sp>
        <p:nvSpPr>
          <p:cNvPr id="11" name="Text 7"/>
          <p:cNvSpPr txBox="1"/>
          <p:nvPr/>
        </p:nvSpPr>
        <p:spPr>
          <a:xfrm>
            <a:off x="2999232" y="2240280"/>
            <a:ext cx="3675888"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Streaming STT v3</a:t>
            </a:r>
            <a:endParaRPr lang="en-US" sz="1000" dirty="0"/>
          </a:p>
        </p:txBody>
      </p:sp>
      <p:sp>
        <p:nvSpPr>
          <p:cNvPr id="12" name="Text 8"/>
          <p:cNvSpPr txBox="1"/>
          <p:nvPr/>
        </p:nvSpPr>
        <p:spPr>
          <a:xfrm>
            <a:off x="6729984" y="2240280"/>
            <a:ext cx="274320" cy="329184"/>
          </a:xfrm>
          <a:prstGeom prst="rect">
            <a:avLst/>
          </a:prstGeom>
          <a:noFill/>
          <a:ln/>
        </p:spPr>
        <p:txBody>
          <a:bodyPr wrap="square" lIns="0" tIns="0" rIns="0" bIns="0" rtlCol="0" anchor="ctr"/>
          <a:lstStyle/>
          <a:p>
            <a:pPr algn="ctr" indent="0" marL="0">
              <a:buNone/>
            </a:pPr>
            <a:r>
              <a:rPr lang="en-US" sz="1200" dirty="0">
                <a:solidFill>
                  <a:srgbClr val="2DD4BF"/>
                </a:solidFill>
              </a:rPr>
              <a:t>→</a:t>
            </a:r>
            <a:endParaRPr lang="en-US" sz="1200" dirty="0"/>
          </a:p>
        </p:txBody>
      </p:sp>
      <p:sp>
        <p:nvSpPr>
          <p:cNvPr id="13" name="Shape 9"/>
          <p:cNvSpPr/>
          <p:nvPr/>
        </p:nvSpPr>
        <p:spPr>
          <a:xfrm>
            <a:off x="7059168" y="2240280"/>
            <a:ext cx="4279392" cy="329184"/>
          </a:xfrm>
          <a:prstGeom prst="roundRect">
            <a:avLst>
              <a:gd name="adj" fmla="val 50000"/>
            </a:avLst>
          </a:prstGeom>
          <a:solidFill>
            <a:srgbClr val="FFFFFF">
              <a:alpha val="5000"/>
            </a:srgbClr>
          </a:solidFill>
          <a:ln w="9525">
            <a:solidFill>
              <a:srgbClr val="FFFFFF">
                <a:alpha val="25000"/>
              </a:srgbClr>
            </a:solidFill>
            <a:prstDash val="solid"/>
          </a:ln>
        </p:spPr>
      </p:sp>
      <p:sp>
        <p:nvSpPr>
          <p:cNvPr id="14" name="Text 10"/>
          <p:cNvSpPr txBox="1"/>
          <p:nvPr/>
        </p:nvSpPr>
        <p:spPr>
          <a:xfrm>
            <a:off x="7059168" y="2240280"/>
            <a:ext cx="4279392"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Rules + LLM Gateway</a:t>
            </a:r>
            <a:endParaRPr lang="en-US" sz="1000" dirty="0"/>
          </a:p>
        </p:txBody>
      </p:sp>
      <p:sp>
        <p:nvSpPr>
          <p:cNvPr id="15" name="Text 11"/>
          <p:cNvSpPr txBox="1"/>
          <p:nvPr/>
        </p:nvSpPr>
        <p:spPr>
          <a:xfrm>
            <a:off x="11393424" y="2240280"/>
            <a:ext cx="274320" cy="329184"/>
          </a:xfrm>
          <a:prstGeom prst="rect">
            <a:avLst/>
          </a:prstGeom>
          <a:noFill/>
          <a:ln/>
        </p:spPr>
        <p:txBody>
          <a:bodyPr wrap="square" lIns="0" tIns="0" rIns="0" bIns="0" rtlCol="0" anchor="ctr"/>
          <a:lstStyle/>
          <a:p>
            <a:pPr algn="ctr" indent="0" marL="0">
              <a:buNone/>
            </a:pPr>
            <a:r>
              <a:rPr lang="en-US" sz="1200" dirty="0">
                <a:solidFill>
                  <a:srgbClr val="2DD4BF"/>
                </a:solidFill>
              </a:rPr>
              <a:t>→</a:t>
            </a:r>
            <a:endParaRPr lang="en-US" sz="1200" dirty="0"/>
          </a:p>
        </p:txBody>
      </p:sp>
      <p:sp>
        <p:nvSpPr>
          <p:cNvPr id="16" name="Shape 12"/>
          <p:cNvSpPr/>
          <p:nvPr/>
        </p:nvSpPr>
        <p:spPr>
          <a:xfrm>
            <a:off x="11722608" y="2240280"/>
            <a:ext cx="5084064" cy="329184"/>
          </a:xfrm>
          <a:prstGeom prst="roundRect">
            <a:avLst>
              <a:gd name="adj" fmla="val 50000"/>
            </a:avLst>
          </a:prstGeom>
          <a:solidFill>
            <a:srgbClr val="FFFFFF">
              <a:alpha val="5000"/>
            </a:srgbClr>
          </a:solidFill>
          <a:ln w="9525">
            <a:solidFill>
              <a:srgbClr val="FFFFFF">
                <a:alpha val="25000"/>
              </a:srgbClr>
            </a:solidFill>
            <a:prstDash val="solid"/>
          </a:ln>
        </p:spPr>
      </p:sp>
      <p:sp>
        <p:nvSpPr>
          <p:cNvPr id="17" name="Text 13"/>
          <p:cNvSpPr txBox="1"/>
          <p:nvPr/>
        </p:nvSpPr>
        <p:spPr>
          <a:xfrm>
            <a:off x="11722608" y="2240280"/>
            <a:ext cx="5084064"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Read-back state machine</a:t>
            </a:r>
            <a:endParaRPr lang="en-US" sz="1000" dirty="0"/>
          </a:p>
        </p:txBody>
      </p:sp>
      <p:sp>
        <p:nvSpPr>
          <p:cNvPr id="18" name="Text 14"/>
          <p:cNvSpPr txBox="1"/>
          <p:nvPr/>
        </p:nvSpPr>
        <p:spPr>
          <a:xfrm>
            <a:off x="16861536" y="2240280"/>
            <a:ext cx="274320" cy="329184"/>
          </a:xfrm>
          <a:prstGeom prst="rect">
            <a:avLst/>
          </a:prstGeom>
          <a:noFill/>
          <a:ln/>
        </p:spPr>
        <p:txBody>
          <a:bodyPr wrap="square" lIns="0" tIns="0" rIns="0" bIns="0" rtlCol="0" anchor="ctr"/>
          <a:lstStyle/>
          <a:p>
            <a:pPr algn="ctr" indent="0" marL="0">
              <a:buNone/>
            </a:pPr>
            <a:r>
              <a:rPr lang="en-US" sz="1200" dirty="0">
                <a:solidFill>
                  <a:srgbClr val="2DD4BF"/>
                </a:solidFill>
              </a:rPr>
              <a:t>→</a:t>
            </a:r>
            <a:endParaRPr lang="en-US" sz="1200" dirty="0"/>
          </a:p>
        </p:txBody>
      </p:sp>
      <p:sp>
        <p:nvSpPr>
          <p:cNvPr id="19" name="Shape 15"/>
          <p:cNvSpPr/>
          <p:nvPr/>
        </p:nvSpPr>
        <p:spPr>
          <a:xfrm>
            <a:off x="17190720" y="2240280"/>
            <a:ext cx="5285232" cy="329184"/>
          </a:xfrm>
          <a:prstGeom prst="roundRect">
            <a:avLst>
              <a:gd name="adj" fmla="val 50000"/>
            </a:avLst>
          </a:prstGeom>
          <a:solidFill>
            <a:srgbClr val="FFFFFF">
              <a:alpha val="5000"/>
            </a:srgbClr>
          </a:solidFill>
          <a:ln w="9525">
            <a:solidFill>
              <a:srgbClr val="FFFFFF">
                <a:alpha val="25000"/>
              </a:srgbClr>
            </a:solidFill>
            <a:prstDash val="solid"/>
          </a:ln>
        </p:spPr>
      </p:sp>
      <p:sp>
        <p:nvSpPr>
          <p:cNvPr id="20" name="Text 16"/>
          <p:cNvSpPr txBox="1"/>
          <p:nvPr/>
        </p:nvSpPr>
        <p:spPr>
          <a:xfrm>
            <a:off x="17190720" y="2240280"/>
            <a:ext cx="5285232"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Voice Agent · EHR record</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11094415" cy="914400"/>
        </p:xfrm>
        <a:graphic>
          <a:graphicData uri="http://schemas.openxmlformats.org/drawingml/2006/table">
            <a:tbl>
              <a:tblPr/>
              <a:tblGrid>
                <a:gridCol w="2103120"/>
                <a:gridCol w="2743200"/>
                <a:gridCol w="6245352"/>
              </a:tblGrid>
              <a:tr h="0">
                <a:tc>
                  <a:txBody>
                    <a:bodyPr/>
                    <a:lstStyle/>
                    <a:p>
                      <a:pPr indent="0" marL="0">
                        <a:buNone/>
                      </a:pPr>
                      <a:r>
                        <a:rPr lang="en-US" sz="900" spc="200" kern="0" dirty="0">
                          <a:solidFill>
                            <a:srgbClr val="9AA3B2"/>
                          </a:solidFill>
                          <a:latin typeface="Courier New" pitchFamily="34" charset="0"/>
                          <a:ea typeface="Courier New" pitchFamily="34" charset="-122"/>
                          <a:cs typeface="Courier New" pitchFamily="34" charset="-120"/>
                        </a:rPr>
                        <a:t>LAYER</a:t>
                      </a:r>
                      <a:endParaRPr lang="en-US" sz="900" dirty="0">
                        <a:latin typeface="Courier New" charset="0"/>
                        <a:ea typeface="Courier New" charset="0"/>
                        <a:cs typeface="Courier New" charset="0"/>
                      </a:endParaRPr>
                    </a:p>
                  </a:txBody>
                  <a:tcPr marL="0" marR="76200" marT="50800" marB="76200">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000000">
                        <a:alpha val="0"/>
                      </a:srgbClr>
                    </a:solidFill>
                  </a:tcPr>
                </a:tc>
                <a:tc>
                  <a:txBody>
                    <a:bodyPr/>
                    <a:lstStyle/>
                    <a:p>
                      <a:pPr indent="0" marL="0">
                        <a:buNone/>
                      </a:pPr>
                      <a:r>
                        <a:rPr lang="en-US" sz="900" spc="200" kern="0" dirty="0">
                          <a:solidFill>
                            <a:srgbClr val="9AA3B2"/>
                          </a:solidFill>
                          <a:latin typeface="Courier New" pitchFamily="34" charset="0"/>
                          <a:ea typeface="Courier New" pitchFamily="34" charset="-122"/>
                          <a:cs typeface="Courier New" pitchFamily="34" charset="-120"/>
                        </a:rPr>
                        <a:t>ASSEMBLYAI PRODUCT</a:t>
                      </a:r>
                      <a:endParaRPr lang="en-US" sz="900" dirty="0">
                        <a:latin typeface="Courier New" charset="0"/>
                        <a:ea typeface="Courier New" charset="0"/>
                        <a:cs typeface="Courier New" charset="0"/>
                      </a:endParaRPr>
                    </a:p>
                  </a:txBody>
                  <a:tcPr marL="0" marR="76200" marT="50800" marB="76200">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000000">
                        <a:alpha val="0"/>
                      </a:srgbClr>
                    </a:solidFill>
                  </a:tcPr>
                </a:tc>
                <a:tc>
                  <a:txBody>
                    <a:bodyPr/>
                    <a:lstStyle/>
                    <a:p>
                      <a:pPr indent="0" marL="0">
                        <a:buNone/>
                      </a:pPr>
                      <a:r>
                        <a:rPr lang="en-US" sz="900" spc="200" kern="0" dirty="0">
                          <a:solidFill>
                            <a:srgbClr val="9AA3B2"/>
                          </a:solidFill>
                          <a:latin typeface="Courier New" pitchFamily="34" charset="0"/>
                          <a:ea typeface="Courier New" pitchFamily="34" charset="-122"/>
                          <a:cs typeface="Courier New" pitchFamily="34" charset="-120"/>
                        </a:rPr>
                        <a:t>HOW SURGR USES IT</a:t>
                      </a:r>
                      <a:endParaRPr lang="en-US" sz="900" dirty="0">
                        <a:latin typeface="Courier New" charset="0"/>
                        <a:ea typeface="Courier New" charset="0"/>
                        <a:cs typeface="Courier New" charset="0"/>
                      </a:endParaRPr>
                    </a:p>
                  </a:txBody>
                  <a:tcPr marL="0" marR="76200" marT="50800" marB="76200">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000000">
                        <a:alpha val="0"/>
                      </a:srgbClr>
                    </a:solidFill>
                  </a:tcPr>
                </a:tc>
              </a:tr>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Live transcription</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ourier New" pitchFamily="34" charset="0"/>
                          <a:ea typeface="Courier New" pitchFamily="34" charset="-122"/>
                          <a:cs typeface="Courier New" pitchFamily="34" charset="-120"/>
                        </a:rPr>
                        <a:t>Streaming v3 · universal-3-6-pro</a:t>
                      </a:r>
                      <a:endParaRPr lang="en-US" sz="1200" dirty="0">
                        <a:latin typeface="Courier New" charset="0"/>
                        <a:ea typeface="Courier New" charset="0"/>
                        <a:cs typeface="Courier New"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Medical mode formats drugs and doses; 47-drug keyterm list; clinician silence thresholds; short-lived browser tokens.</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r>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is speaking</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ourier New" pitchFamily="34" charset="0"/>
                          <a:ea typeface="Courier New" pitchFamily="34" charset="-122"/>
                          <a:cs typeface="Courier New" pitchFamily="34" charset="-120"/>
                        </a:rPr>
                        <a:t>speaker_labels</a:t>
                      </a:r>
                      <a:endParaRPr lang="en-US" sz="1200" dirty="0">
                        <a:latin typeface="Courier New" charset="0"/>
                        <a:ea typeface="Courier New" charset="0"/>
                        <a:cs typeface="Courier New"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True diarization on one microphone, so a read-back from the person who gave the order is caught.</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r>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Understanding</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ourier New" pitchFamily="34" charset="0"/>
                          <a:ea typeface="Courier New" pitchFamily="34" charset="-122"/>
                          <a:cs typeface="Courier New" pitchFamily="34" charset="-120"/>
                        </a:rPr>
                        <a:t>LLM Gateway</a:t>
                      </a:r>
                      <a:endParaRPr lang="en-US" sz="1200" dirty="0">
                        <a:latin typeface="Courier New" charset="0"/>
                        <a:ea typeface="Courier New" charset="0"/>
                        <a:cs typeface="Courier New"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JSON-schema classification of ambiguous drug talk; report narrative. Budget read from rate-limit headers; never blocks the safety loop.</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r>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Voice in the room</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ourier New" pitchFamily="34" charset="0"/>
                          <a:ea typeface="Courier New" pitchFamily="34" charset="-122"/>
                          <a:cs typeface="Courier New" pitchFamily="34" charset="-120"/>
                        </a:rPr>
                        <a:t>Voice Agent API</a:t>
                      </a:r>
                      <a:endParaRPr lang="en-US" sz="1200" dirty="0">
                        <a:latin typeface="Courier New" charset="0"/>
                        <a:ea typeface="Courier New" charset="0"/>
                        <a:cs typeface="Courier New"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Alerts via reply.create; continuous room listening with silent-reply suppression; six client tools answer questions from live state.</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08</a:t>
            </a:r>
            <a:endParaRPr lang="en-US" sz="1000" dirty="0"/>
          </a:p>
        </p:txBody>
      </p:sp>
      <p:sp>
        <p:nvSpPr>
          <p:cNvPr id="5" name="Text 1"/>
          <p:cNvSpPr txBox="1"/>
          <p:nvPr/>
        </p:nvSpPr>
        <p:spPr>
          <a:xfrm>
            <a:off x="548640" y="1143000"/>
            <a:ext cx="7315200" cy="274320"/>
          </a:xfrm>
          <a:prstGeom prst="rect">
            <a:avLst/>
          </a:prstGeom>
          <a:noFill/>
          <a:ln/>
        </p:spPr>
        <p:txBody>
          <a:bodyPr wrap="square" lIns="0" tIns="0" rIns="0" bIns="0" rtlCol="0" anchor="ctr"/>
          <a:lstStyle/>
          <a:p>
            <a:pPr indent="0" marL="0">
              <a:buNone/>
            </a:pPr>
            <a:r>
              <a:rPr lang="en-US" sz="1100" spc="400" kern="0" dirty="0">
                <a:solidFill>
                  <a:srgbClr val="9AA3B2"/>
                </a:solidFill>
                <a:latin typeface="Courier New" pitchFamily="34" charset="0"/>
                <a:ea typeface="Courier New" pitchFamily="34" charset="-122"/>
                <a:cs typeface="Courier New" pitchFamily="34" charset="-120"/>
              </a:rPr>
              <a:t>WHAT WE VERIFIED</a:t>
            </a:r>
            <a:endParaRPr lang="en-US" sz="1100" dirty="0"/>
          </a:p>
        </p:txBody>
      </p:sp>
      <p:sp>
        <p:nvSpPr>
          <p:cNvPr id="6" name="Text 2"/>
          <p:cNvSpPr txBox="1"/>
          <p:nvPr/>
        </p:nvSpPr>
        <p:spPr>
          <a:xfrm>
            <a:off x="548640" y="1417320"/>
            <a:ext cx="11094415" cy="868680"/>
          </a:xfrm>
          <a:prstGeom prst="rect">
            <a:avLst/>
          </a:prstGeom>
          <a:noFill/>
          <a:ln/>
        </p:spPr>
        <p:txBody>
          <a:bodyPr wrap="square" lIns="0" tIns="0" rIns="0" bIns="0" rtlCol="0" anchor="t">
            <a:normAutofit/>
          </a:bodyPr>
          <a:lstStyle/>
          <a:p>
            <a:pPr indent="0" marL="0">
              <a:buNone/>
            </a:pPr>
            <a:r>
              <a:rPr lang="en-US" sz="3300" i="1" dirty="0">
                <a:solidFill>
                  <a:srgbClr val="FFFFFF"/>
                </a:solidFill>
                <a:latin typeface="Cambria" pitchFamily="34" charset="0"/>
                <a:ea typeface="Cambria" pitchFamily="34" charset="-122"/>
                <a:cs typeface="Cambria" pitchFamily="34" charset="-120"/>
              </a:rPr>
              <a:t>Every integration tested against the live services</a:t>
            </a:r>
            <a:endParaRPr lang="en-US" sz="3300" dirty="0"/>
          </a:p>
        </p:txBody>
      </p:sp>
      <p:sp>
        <p:nvSpPr>
          <p:cNvPr id="7" name="Shape 3"/>
          <p:cNvSpPr/>
          <p:nvPr/>
        </p:nvSpPr>
        <p:spPr>
          <a:xfrm>
            <a:off x="548640" y="2286000"/>
            <a:ext cx="3545738" cy="1874520"/>
          </a:xfrm>
          <a:prstGeom prst="roundRect">
            <a:avLst>
              <a:gd name="adj" fmla="val 8780"/>
            </a:avLst>
          </a:prstGeom>
          <a:solidFill>
            <a:srgbClr val="FFFFFF">
              <a:alpha val="5000"/>
            </a:srgbClr>
          </a:solidFill>
          <a:ln w="9525">
            <a:solidFill>
              <a:srgbClr val="FFFFFF">
                <a:alpha val="18000"/>
              </a:srgbClr>
            </a:solidFill>
            <a:prstDash val="solid"/>
          </a:ln>
        </p:spPr>
      </p:sp>
      <p:sp>
        <p:nvSpPr>
          <p:cNvPr id="8" name="Text 4"/>
          <p:cNvSpPr txBox="1"/>
          <p:nvPr/>
        </p:nvSpPr>
        <p:spPr>
          <a:xfrm>
            <a:off x="777240" y="2487168"/>
            <a:ext cx="3088538" cy="384048"/>
          </a:xfrm>
          <a:prstGeom prst="rect">
            <a:avLst/>
          </a:prstGeom>
          <a:noFill/>
          <a:ln/>
        </p:spPr>
        <p:txBody>
          <a:bodyPr wrap="square" lIns="0" tIns="0" rIns="0" bIns="0" rtlCol="0" anchor="t">
            <a:normAutofit/>
          </a:bodyPr>
          <a:lstStyle/>
          <a:p>
            <a:pPr indent="0" marL="0">
              <a:buNone/>
            </a:pPr>
            <a:r>
              <a:rPr lang="en-US" sz="2000" i="1" dirty="0">
                <a:solidFill>
                  <a:srgbClr val="FFFFFF"/>
                </a:solidFill>
                <a:latin typeface="Cambria" pitchFamily="34" charset="0"/>
                <a:ea typeface="Cambria" pitchFamily="34" charset="-122"/>
                <a:cs typeface="Cambria" pitchFamily="34" charset="-120"/>
              </a:rPr>
              <a:t>Streaming</a:t>
            </a:r>
            <a:endParaRPr lang="en-US" sz="2000" dirty="0"/>
          </a:p>
        </p:txBody>
      </p:sp>
      <p:sp>
        <p:nvSpPr>
          <p:cNvPr id="9" name="Text 5"/>
          <p:cNvSpPr txBox="1"/>
          <p:nvPr/>
        </p:nvSpPr>
        <p:spPr>
          <a:xfrm>
            <a:off x="777240" y="2926080"/>
            <a:ext cx="3088538" cy="1051560"/>
          </a:xfrm>
          <a:prstGeom prst="rect">
            <a:avLst/>
          </a:prstGeom>
          <a:noFill/>
          <a:ln/>
        </p:spPr>
        <p:txBody>
          <a:bodyPr wrap="square" lIns="0" tIns="0" rIns="0" bIns="0" rtlCol="0" anchor="t">
            <a:normAutofit/>
          </a:bodyPr>
          <a:lstStyle/>
          <a:p>
            <a:pPr indent="0" marL="0">
              <a:spcAft>
                <a:spcPts val="400"/>
              </a:spcAft>
              <a:buNone/>
            </a:pPr>
            <a:r>
              <a:rPr lang="en-US" sz="1250" dirty="0">
                <a:solidFill>
                  <a:srgbClr val="D9DEE7"/>
                </a:solidFill>
                <a:latin typeface="Calibri" pitchFamily="34" charset="0"/>
                <a:ea typeface="Calibri" pitchFamily="34" charset="-122"/>
                <a:cs typeface="Calibri" pitchFamily="34" charset="-120"/>
              </a:rPr>
              <a:t>A 78-second three-voice rehearsal streamed to AssemblyAI transcribed all nine lines verbatim, with two speaker labels and doses written as digits by medical mode.</a:t>
            </a:r>
            <a:endParaRPr lang="en-US" sz="1250" dirty="0"/>
          </a:p>
        </p:txBody>
      </p:sp>
      <p:sp>
        <p:nvSpPr>
          <p:cNvPr id="10" name="Shape 6"/>
          <p:cNvSpPr/>
          <p:nvPr/>
        </p:nvSpPr>
        <p:spPr>
          <a:xfrm>
            <a:off x="4322978" y="2286000"/>
            <a:ext cx="3545738" cy="1874520"/>
          </a:xfrm>
          <a:prstGeom prst="roundRect">
            <a:avLst>
              <a:gd name="adj" fmla="val 8780"/>
            </a:avLst>
          </a:prstGeom>
          <a:solidFill>
            <a:srgbClr val="FFFFFF">
              <a:alpha val="5000"/>
            </a:srgbClr>
          </a:solidFill>
          <a:ln w="9525">
            <a:solidFill>
              <a:srgbClr val="FFFFFF">
                <a:alpha val="18000"/>
              </a:srgbClr>
            </a:solidFill>
            <a:prstDash val="solid"/>
          </a:ln>
        </p:spPr>
      </p:sp>
      <p:sp>
        <p:nvSpPr>
          <p:cNvPr id="11" name="Text 7"/>
          <p:cNvSpPr txBox="1"/>
          <p:nvPr/>
        </p:nvSpPr>
        <p:spPr>
          <a:xfrm>
            <a:off x="4551578" y="2487168"/>
            <a:ext cx="3088538" cy="384048"/>
          </a:xfrm>
          <a:prstGeom prst="rect">
            <a:avLst/>
          </a:prstGeom>
          <a:noFill/>
          <a:ln/>
        </p:spPr>
        <p:txBody>
          <a:bodyPr wrap="square" lIns="0" tIns="0" rIns="0" bIns="0" rtlCol="0" anchor="t">
            <a:normAutofit/>
          </a:bodyPr>
          <a:lstStyle/>
          <a:p>
            <a:pPr indent="0" marL="0">
              <a:buNone/>
            </a:pPr>
            <a:r>
              <a:rPr lang="en-US" sz="2000" i="1" dirty="0">
                <a:solidFill>
                  <a:srgbClr val="FFFFFF"/>
                </a:solidFill>
                <a:latin typeface="Cambria" pitchFamily="34" charset="0"/>
                <a:ea typeface="Cambria" pitchFamily="34" charset="-122"/>
                <a:cs typeface="Cambria" pitchFamily="34" charset="-120"/>
              </a:rPr>
              <a:t>Voice Agent</a:t>
            </a:r>
            <a:endParaRPr lang="en-US" sz="2000" dirty="0"/>
          </a:p>
        </p:txBody>
      </p:sp>
      <p:sp>
        <p:nvSpPr>
          <p:cNvPr id="12" name="Text 8"/>
          <p:cNvSpPr txBox="1"/>
          <p:nvPr/>
        </p:nvSpPr>
        <p:spPr>
          <a:xfrm>
            <a:off x="4551578" y="2926080"/>
            <a:ext cx="3088538" cy="1051560"/>
          </a:xfrm>
          <a:prstGeom prst="rect">
            <a:avLst/>
          </a:prstGeom>
          <a:noFill/>
          <a:ln/>
        </p:spPr>
        <p:txBody>
          <a:bodyPr wrap="square" lIns="0" tIns="0" rIns="0" bIns="0" rtlCol="0" anchor="t">
            <a:normAutofit/>
          </a:bodyPr>
          <a:lstStyle/>
          <a:p>
            <a:pPr indent="0" marL="0">
              <a:spcAft>
                <a:spcPts val="400"/>
              </a:spcAft>
              <a:buNone/>
            </a:pPr>
            <a:r>
              <a:rPr lang="en-US" sz="1250" dirty="0">
                <a:solidFill>
                  <a:srgbClr val="D9DEE7"/>
                </a:solidFill>
                <a:latin typeface="Calibri" pitchFamily="34" charset="0"/>
                <a:ea typeface="Calibri" pitchFamily="34" charset="-122"/>
                <a:cs typeface="Calibri" pitchFamily="34" charset="-120"/>
              </a:rPr>
              <a:t>A mismatch alert was spoken word for word (eleven seconds of audio). Tool calling confirmed: question in, get_open_orders called, answer spoken.</a:t>
            </a:r>
            <a:endParaRPr lang="en-US" sz="1250" dirty="0"/>
          </a:p>
        </p:txBody>
      </p:sp>
      <p:sp>
        <p:nvSpPr>
          <p:cNvPr id="13" name="Shape 9"/>
          <p:cNvSpPr/>
          <p:nvPr/>
        </p:nvSpPr>
        <p:spPr>
          <a:xfrm>
            <a:off x="8097317" y="2286000"/>
            <a:ext cx="3545738" cy="1874520"/>
          </a:xfrm>
          <a:prstGeom prst="roundRect">
            <a:avLst>
              <a:gd name="adj" fmla="val 8780"/>
            </a:avLst>
          </a:prstGeom>
          <a:solidFill>
            <a:srgbClr val="FFFFFF">
              <a:alpha val="5000"/>
            </a:srgbClr>
          </a:solidFill>
          <a:ln w="9525">
            <a:solidFill>
              <a:srgbClr val="FFFFFF">
                <a:alpha val="18000"/>
              </a:srgbClr>
            </a:solidFill>
            <a:prstDash val="solid"/>
          </a:ln>
        </p:spPr>
      </p:sp>
      <p:sp>
        <p:nvSpPr>
          <p:cNvPr id="14" name="Text 10"/>
          <p:cNvSpPr txBox="1"/>
          <p:nvPr/>
        </p:nvSpPr>
        <p:spPr>
          <a:xfrm>
            <a:off x="8325917" y="2487168"/>
            <a:ext cx="3088538" cy="384048"/>
          </a:xfrm>
          <a:prstGeom prst="rect">
            <a:avLst/>
          </a:prstGeom>
          <a:noFill/>
          <a:ln/>
        </p:spPr>
        <p:txBody>
          <a:bodyPr wrap="square" lIns="0" tIns="0" rIns="0" bIns="0" rtlCol="0" anchor="t">
            <a:normAutofit/>
          </a:bodyPr>
          <a:lstStyle/>
          <a:p>
            <a:pPr indent="0" marL="0">
              <a:buNone/>
            </a:pPr>
            <a:r>
              <a:rPr lang="en-US" sz="2000" i="1" dirty="0">
                <a:solidFill>
                  <a:srgbClr val="FFFFFF"/>
                </a:solidFill>
                <a:latin typeface="Cambria" pitchFamily="34" charset="0"/>
                <a:ea typeface="Cambria" pitchFamily="34" charset="-122"/>
                <a:cs typeface="Cambria" pitchFamily="34" charset="-120"/>
              </a:rPr>
              <a:t>Live microphone</a:t>
            </a:r>
            <a:endParaRPr lang="en-US" sz="2000" dirty="0"/>
          </a:p>
        </p:txBody>
      </p:sp>
      <p:sp>
        <p:nvSpPr>
          <p:cNvPr id="15" name="Text 11"/>
          <p:cNvSpPr txBox="1"/>
          <p:nvPr/>
        </p:nvSpPr>
        <p:spPr>
          <a:xfrm>
            <a:off x="8325917" y="2926080"/>
            <a:ext cx="3088538" cy="1051560"/>
          </a:xfrm>
          <a:prstGeom prst="rect">
            <a:avLst/>
          </a:prstGeom>
          <a:noFill/>
          <a:ln/>
        </p:spPr>
        <p:txBody>
          <a:bodyPr wrap="square" lIns="0" tIns="0" rIns="0" bIns="0" rtlCol="0" anchor="t">
            <a:normAutofit/>
          </a:bodyPr>
          <a:lstStyle/>
          <a:p>
            <a:pPr indent="0" marL="0">
              <a:spcAft>
                <a:spcPts val="400"/>
              </a:spcAft>
              <a:buNone/>
            </a:pPr>
            <a:r>
              <a:rPr lang="en-US" sz="1250" dirty="0">
                <a:solidFill>
                  <a:srgbClr val="D9DEE7"/>
                </a:solidFill>
                <a:latin typeface="Calibri" pitchFamily="34" charset="0"/>
                <a:ea typeface="Calibri" pitchFamily="34" charset="-122"/>
                <a:cs typeface="Calibri" pitchFamily="34" charset="-120"/>
              </a:rPr>
              <a:t>A real session in Chrome: two voices separated, three alerts spoken at the right moments, orders closed, report exported, printed and delivered.</a:t>
            </a:r>
            <a:endParaRPr lang="en-US" sz="1250" dirty="0"/>
          </a:p>
        </p:txBody>
      </p:sp>
      <p:sp>
        <p:nvSpPr>
          <p:cNvPr id="16" name="Shape 12"/>
          <p:cNvSpPr/>
          <p:nvPr/>
        </p:nvSpPr>
        <p:spPr>
          <a:xfrm>
            <a:off x="548640" y="4389120"/>
            <a:ext cx="3545738" cy="1463040"/>
          </a:xfrm>
          <a:prstGeom prst="roundRect">
            <a:avLst>
              <a:gd name="adj" fmla="val 11250"/>
            </a:avLst>
          </a:prstGeom>
          <a:solidFill>
            <a:srgbClr val="FFFFFF">
              <a:alpha val="5000"/>
            </a:srgbClr>
          </a:solidFill>
          <a:ln w="9525">
            <a:solidFill>
              <a:srgbClr val="FFFFFF">
                <a:alpha val="18000"/>
              </a:srgbClr>
            </a:solidFill>
            <a:prstDash val="solid"/>
          </a:ln>
        </p:spPr>
      </p:sp>
      <p:sp>
        <p:nvSpPr>
          <p:cNvPr id="17" name="Text 13"/>
          <p:cNvSpPr txBox="1"/>
          <p:nvPr/>
        </p:nvSpPr>
        <p:spPr>
          <a:xfrm>
            <a:off x="777240" y="4590288"/>
            <a:ext cx="3088538" cy="685800"/>
          </a:xfrm>
          <a:prstGeom prst="rect">
            <a:avLst/>
          </a:prstGeom>
          <a:noFill/>
          <a:ln/>
        </p:spPr>
        <p:txBody>
          <a:bodyPr wrap="square" lIns="0" tIns="0" rIns="0" bIns="0" rtlCol="0" anchor="t">
            <a:normAutofit/>
          </a:bodyPr>
          <a:lstStyle/>
          <a:p>
            <a:pPr indent="0" marL="0">
              <a:buNone/>
            </a:pPr>
            <a:r>
              <a:rPr lang="en-US" sz="3400" i="1" dirty="0">
                <a:solidFill>
                  <a:srgbClr val="FFFFFF"/>
                </a:solidFill>
                <a:latin typeface="Cambria" pitchFamily="34" charset="0"/>
                <a:ea typeface="Cambria" pitchFamily="34" charset="-122"/>
                <a:cs typeface="Cambria" pitchFamily="34" charset="-120"/>
              </a:rPr>
              <a:t>&lt;1 ms</a:t>
            </a:r>
            <a:endParaRPr lang="en-US" sz="3400" dirty="0"/>
          </a:p>
        </p:txBody>
      </p:sp>
      <p:sp>
        <p:nvSpPr>
          <p:cNvPr id="18" name="Text 14"/>
          <p:cNvSpPr txBox="1"/>
          <p:nvPr/>
        </p:nvSpPr>
        <p:spPr>
          <a:xfrm>
            <a:off x="777240" y="5321808"/>
            <a:ext cx="3088538" cy="347472"/>
          </a:xfrm>
          <a:prstGeom prst="rect">
            <a:avLst/>
          </a:prstGeom>
          <a:noFill/>
          <a:ln/>
        </p:spPr>
        <p:txBody>
          <a:bodyPr wrap="square" lIns="0" tIns="0" rIns="0" bIns="0" rtlCol="0" anchor="t">
            <a:normAutofit/>
          </a:bodyPr>
          <a:lstStyle/>
          <a:p>
            <a:pPr indent="0" marL="0">
              <a:spcAft>
                <a:spcPts val="400"/>
              </a:spcAft>
              <a:buNone/>
            </a:pPr>
            <a:r>
              <a:rPr lang="en-US" sz="1250" dirty="0">
                <a:solidFill>
                  <a:srgbClr val="D9DEE7"/>
                </a:solidFill>
                <a:latin typeface="Calibri" pitchFamily="34" charset="0"/>
                <a:ea typeface="Calibri" pitchFamily="34" charset="-122"/>
                <a:cs typeface="Calibri" pitchFamily="34" charset="-120"/>
              </a:rPr>
              <a:t>rule classification per utterance</a:t>
            </a:r>
            <a:endParaRPr lang="en-US" sz="1250" dirty="0"/>
          </a:p>
        </p:txBody>
      </p:sp>
      <p:sp>
        <p:nvSpPr>
          <p:cNvPr id="19" name="Shape 15"/>
          <p:cNvSpPr/>
          <p:nvPr/>
        </p:nvSpPr>
        <p:spPr>
          <a:xfrm>
            <a:off x="4322978" y="4389120"/>
            <a:ext cx="3545738" cy="1463040"/>
          </a:xfrm>
          <a:prstGeom prst="roundRect">
            <a:avLst>
              <a:gd name="adj" fmla="val 11250"/>
            </a:avLst>
          </a:prstGeom>
          <a:solidFill>
            <a:srgbClr val="FFFFFF">
              <a:alpha val="5000"/>
            </a:srgbClr>
          </a:solidFill>
          <a:ln w="9525">
            <a:solidFill>
              <a:srgbClr val="FFFFFF">
                <a:alpha val="18000"/>
              </a:srgbClr>
            </a:solidFill>
            <a:prstDash val="solid"/>
          </a:ln>
        </p:spPr>
      </p:sp>
      <p:sp>
        <p:nvSpPr>
          <p:cNvPr id="20" name="Text 16"/>
          <p:cNvSpPr txBox="1"/>
          <p:nvPr/>
        </p:nvSpPr>
        <p:spPr>
          <a:xfrm>
            <a:off x="4551578" y="4590288"/>
            <a:ext cx="3088538" cy="685800"/>
          </a:xfrm>
          <a:prstGeom prst="rect">
            <a:avLst/>
          </a:prstGeom>
          <a:noFill/>
          <a:ln/>
        </p:spPr>
        <p:txBody>
          <a:bodyPr wrap="square" lIns="0" tIns="0" rIns="0" bIns="0" rtlCol="0" anchor="t">
            <a:normAutofit/>
          </a:bodyPr>
          <a:lstStyle/>
          <a:p>
            <a:pPr indent="0" marL="0">
              <a:buNone/>
            </a:pPr>
            <a:r>
              <a:rPr lang="en-US" sz="3400" i="1" dirty="0">
                <a:solidFill>
                  <a:srgbClr val="FFFFFF"/>
                </a:solidFill>
                <a:latin typeface="Cambria" pitchFamily="34" charset="0"/>
                <a:ea typeface="Cambria" pitchFamily="34" charset="-122"/>
                <a:cs typeface="Cambria" pitchFamily="34" charset="-120"/>
              </a:rPr>
              <a:t>≈1 s</a:t>
            </a:r>
            <a:endParaRPr lang="en-US" sz="3400" dirty="0"/>
          </a:p>
        </p:txBody>
      </p:sp>
      <p:sp>
        <p:nvSpPr>
          <p:cNvPr id="21" name="Text 17"/>
          <p:cNvSpPr txBox="1"/>
          <p:nvPr/>
        </p:nvSpPr>
        <p:spPr>
          <a:xfrm>
            <a:off x="4551578" y="5321808"/>
            <a:ext cx="3088538" cy="347472"/>
          </a:xfrm>
          <a:prstGeom prst="rect">
            <a:avLst/>
          </a:prstGeom>
          <a:noFill/>
          <a:ln/>
        </p:spPr>
        <p:txBody>
          <a:bodyPr wrap="square" lIns="0" tIns="0" rIns="0" bIns="0" rtlCol="0" anchor="t">
            <a:normAutofit/>
          </a:bodyPr>
          <a:lstStyle/>
          <a:p>
            <a:pPr indent="0" marL="0">
              <a:spcAft>
                <a:spcPts val="400"/>
              </a:spcAft>
              <a:buNone/>
            </a:pPr>
            <a:r>
              <a:rPr lang="en-US" sz="1250" dirty="0">
                <a:solidFill>
                  <a:srgbClr val="D9DEE7"/>
                </a:solidFill>
                <a:latin typeface="Calibri" pitchFamily="34" charset="0"/>
                <a:ea typeface="Calibri" pitchFamily="34" charset="-122"/>
                <a:cs typeface="Calibri" pitchFamily="34" charset="-120"/>
              </a:rPr>
              <a:t>from a wrong read-back to the spoken alert</a:t>
            </a:r>
            <a:endParaRPr lang="en-US" sz="1250" dirty="0"/>
          </a:p>
        </p:txBody>
      </p:sp>
      <p:sp>
        <p:nvSpPr>
          <p:cNvPr id="22" name="Shape 18"/>
          <p:cNvSpPr/>
          <p:nvPr/>
        </p:nvSpPr>
        <p:spPr>
          <a:xfrm>
            <a:off x="8097317" y="4389120"/>
            <a:ext cx="3545738" cy="1463040"/>
          </a:xfrm>
          <a:prstGeom prst="roundRect">
            <a:avLst>
              <a:gd name="adj" fmla="val 11250"/>
            </a:avLst>
          </a:prstGeom>
          <a:solidFill>
            <a:srgbClr val="FFFFFF">
              <a:alpha val="5000"/>
            </a:srgbClr>
          </a:solidFill>
          <a:ln w="9525">
            <a:solidFill>
              <a:srgbClr val="FFFFFF">
                <a:alpha val="18000"/>
              </a:srgbClr>
            </a:solidFill>
            <a:prstDash val="solid"/>
          </a:ln>
        </p:spPr>
      </p:sp>
      <p:sp>
        <p:nvSpPr>
          <p:cNvPr id="23" name="Text 19"/>
          <p:cNvSpPr txBox="1"/>
          <p:nvPr/>
        </p:nvSpPr>
        <p:spPr>
          <a:xfrm>
            <a:off x="8325917" y="4590288"/>
            <a:ext cx="3088538" cy="685800"/>
          </a:xfrm>
          <a:prstGeom prst="rect">
            <a:avLst/>
          </a:prstGeom>
          <a:noFill/>
          <a:ln/>
        </p:spPr>
        <p:txBody>
          <a:bodyPr wrap="square" lIns="0" tIns="0" rIns="0" bIns="0" rtlCol="0" anchor="t">
            <a:normAutofit/>
          </a:bodyPr>
          <a:lstStyle/>
          <a:p>
            <a:pPr indent="0" marL="0">
              <a:buNone/>
            </a:pPr>
            <a:r>
              <a:rPr lang="en-US" sz="3400" i="1" dirty="0">
                <a:solidFill>
                  <a:srgbClr val="FFFFFF"/>
                </a:solidFill>
                <a:latin typeface="Cambria" pitchFamily="34" charset="0"/>
                <a:ea typeface="Cambria" pitchFamily="34" charset="-122"/>
                <a:cs typeface="Cambria" pitchFamily="34" charset="-120"/>
              </a:rPr>
              <a:t>10 s</a:t>
            </a:r>
            <a:endParaRPr lang="en-US" sz="3400" dirty="0"/>
          </a:p>
        </p:txBody>
      </p:sp>
      <p:sp>
        <p:nvSpPr>
          <p:cNvPr id="24" name="Text 20"/>
          <p:cNvSpPr txBox="1"/>
          <p:nvPr/>
        </p:nvSpPr>
        <p:spPr>
          <a:xfrm>
            <a:off x="8325917" y="5321808"/>
            <a:ext cx="3088538" cy="347472"/>
          </a:xfrm>
          <a:prstGeom prst="rect">
            <a:avLst/>
          </a:prstGeom>
          <a:noFill/>
          <a:ln/>
        </p:spPr>
        <p:txBody>
          <a:bodyPr wrap="square" lIns="0" tIns="0" rIns="0" bIns="0" rtlCol="0" anchor="t">
            <a:normAutofit/>
          </a:bodyPr>
          <a:lstStyle/>
          <a:p>
            <a:pPr indent="0" marL="0">
              <a:spcAft>
                <a:spcPts val="400"/>
              </a:spcAft>
              <a:buNone/>
            </a:pPr>
            <a:r>
              <a:rPr lang="en-US" sz="1250" dirty="0">
                <a:solidFill>
                  <a:srgbClr val="D9DEE7"/>
                </a:solidFill>
                <a:latin typeface="Calibri" pitchFamily="34" charset="0"/>
                <a:ea typeface="Calibri" pitchFamily="34" charset="-122"/>
                <a:cs typeface="Calibri" pitchFamily="34" charset="-120"/>
              </a:rPr>
              <a:t>read-back window before a timeout alert</a:t>
            </a:r>
            <a:endParaRPr lang="en-US" sz="1250" dirty="0"/>
          </a:p>
        </p:txBody>
      </p:sp>
      <p:sp>
        <p:nvSpPr>
          <p:cNvPr id="25" name="Text 21"/>
          <p:cNvSpPr txBox="1"/>
          <p:nvPr/>
        </p:nvSpPr>
        <p:spPr>
          <a:xfrm>
            <a:off x="548640" y="6035040"/>
            <a:ext cx="11094415" cy="365760"/>
          </a:xfrm>
          <a:prstGeom prst="rect">
            <a:avLst/>
          </a:prstGeom>
          <a:noFill/>
          <a:ln/>
        </p:spPr>
        <p:txBody>
          <a:bodyPr wrap="square" lIns="0" tIns="0" rIns="0" bIns="0" rtlCol="0" anchor="ctr"/>
          <a:lstStyle/>
          <a:p>
            <a:pPr indent="0" marL="0">
              <a:buNone/>
            </a:pPr>
            <a:r>
              <a:rPr lang="en-US" sz="1100" dirty="0">
                <a:solidFill>
                  <a:srgbClr val="9AA3B2"/>
                </a:solidFill>
                <a:latin typeface="Calibri" pitchFamily="34" charset="0"/>
                <a:ea typeface="Calibri" pitchFamily="34" charset="-122"/>
                <a:cs typeface="Calibri" pitchFamily="34" charset="-120"/>
              </a:rPr>
              <a:t>Nine scripted scenarios run through the engine as a regression suite. Solo demo mode and a rehearsal audio file let anyone test without a second person.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09</a:t>
            </a:r>
            <a:endParaRPr lang="en-US" sz="1000" dirty="0"/>
          </a:p>
        </p:txBody>
      </p:sp>
      <p:sp>
        <p:nvSpPr>
          <p:cNvPr id="5" name="Text 1"/>
          <p:cNvSpPr txBox="1"/>
          <p:nvPr/>
        </p:nvSpPr>
        <p:spPr>
          <a:xfrm>
            <a:off x="548640" y="1143000"/>
            <a:ext cx="7315200" cy="274320"/>
          </a:xfrm>
          <a:prstGeom prst="rect">
            <a:avLst/>
          </a:prstGeom>
          <a:noFill/>
          <a:ln/>
        </p:spPr>
        <p:txBody>
          <a:bodyPr wrap="square" lIns="0" tIns="0" rIns="0" bIns="0" rtlCol="0" anchor="ctr"/>
          <a:lstStyle/>
          <a:p>
            <a:pPr indent="0" marL="0">
              <a:buNone/>
            </a:pPr>
            <a:r>
              <a:rPr lang="en-US" sz="1100" spc="400" kern="0" dirty="0">
                <a:solidFill>
                  <a:srgbClr val="9AA3B2"/>
                </a:solidFill>
                <a:latin typeface="Courier New" pitchFamily="34" charset="0"/>
                <a:ea typeface="Courier New" pitchFamily="34" charset="-122"/>
                <a:cs typeface="Courier New" pitchFamily="34" charset="-120"/>
              </a:rPr>
              <a:t>WHO GAINS</a:t>
            </a:r>
            <a:endParaRPr lang="en-US" sz="1100" dirty="0"/>
          </a:p>
        </p:txBody>
      </p:sp>
      <p:sp>
        <p:nvSpPr>
          <p:cNvPr id="6" name="Text 2"/>
          <p:cNvSpPr txBox="1"/>
          <p:nvPr/>
        </p:nvSpPr>
        <p:spPr>
          <a:xfrm>
            <a:off x="548640" y="1417320"/>
            <a:ext cx="11094415" cy="731520"/>
          </a:xfrm>
          <a:prstGeom prst="rect">
            <a:avLst/>
          </a:prstGeom>
          <a:noFill/>
          <a:ln/>
        </p:spPr>
        <p:txBody>
          <a:bodyPr wrap="square" lIns="0" tIns="0" rIns="0" bIns="0" rtlCol="0" anchor="t">
            <a:normAutofit/>
          </a:bodyPr>
          <a:lstStyle/>
          <a:p>
            <a:pPr indent="0" marL="0">
              <a:buNone/>
            </a:pPr>
            <a:r>
              <a:rPr lang="en-US" sz="3600" i="1" dirty="0">
                <a:solidFill>
                  <a:srgbClr val="FFFFFF"/>
                </a:solidFill>
                <a:latin typeface="Cambria" pitchFamily="34" charset="0"/>
                <a:ea typeface="Cambria" pitchFamily="34" charset="-122"/>
                <a:cs typeface="Cambria" pitchFamily="34" charset="-120"/>
              </a:rPr>
              <a:t>Built for the people administering the drug</a:t>
            </a:r>
            <a:endParaRPr lang="en-US" sz="3600" dirty="0"/>
          </a:p>
        </p:txBody>
      </p:sp>
      <p:sp>
        <p:nvSpPr>
          <p:cNvPr id="7" name="Shape 3"/>
          <p:cNvSpPr/>
          <p:nvPr/>
        </p:nvSpPr>
        <p:spPr>
          <a:xfrm>
            <a:off x="548640" y="2286000"/>
            <a:ext cx="3545738" cy="1783080"/>
          </a:xfrm>
          <a:prstGeom prst="roundRect">
            <a:avLst>
              <a:gd name="adj" fmla="val 9231"/>
            </a:avLst>
          </a:prstGeom>
          <a:solidFill>
            <a:srgbClr val="FFFFFF">
              <a:alpha val="5000"/>
            </a:srgbClr>
          </a:solidFill>
          <a:ln w="9525">
            <a:solidFill>
              <a:srgbClr val="FFFFFF">
                <a:alpha val="18000"/>
              </a:srgbClr>
            </a:solidFill>
            <a:prstDash val="solid"/>
          </a:ln>
        </p:spPr>
      </p:sp>
      <p:sp>
        <p:nvSpPr>
          <p:cNvPr id="8" name="Text 4"/>
          <p:cNvSpPr txBox="1"/>
          <p:nvPr/>
        </p:nvSpPr>
        <p:spPr>
          <a:xfrm>
            <a:off x="777240" y="2487168"/>
            <a:ext cx="3088538" cy="384048"/>
          </a:xfrm>
          <a:prstGeom prst="rect">
            <a:avLst/>
          </a:prstGeom>
          <a:noFill/>
          <a:ln/>
        </p:spPr>
        <p:txBody>
          <a:bodyPr wrap="square" lIns="0" tIns="0" rIns="0" bIns="0" rtlCol="0" anchor="t">
            <a:normAutofit/>
          </a:bodyPr>
          <a:lstStyle/>
          <a:p>
            <a:pPr indent="0" marL="0">
              <a:buNone/>
            </a:pPr>
            <a:r>
              <a:rPr lang="en-US" sz="2100" i="1" dirty="0">
                <a:solidFill>
                  <a:srgbClr val="FFFFFF"/>
                </a:solidFill>
                <a:latin typeface="Cambria" pitchFamily="34" charset="0"/>
                <a:ea typeface="Cambria" pitchFamily="34" charset="-122"/>
                <a:cs typeface="Cambria" pitchFamily="34" charset="-120"/>
              </a:rPr>
              <a:t>Anesthesiologist</a:t>
            </a:r>
            <a:endParaRPr lang="en-US" sz="2100" dirty="0"/>
          </a:p>
        </p:txBody>
      </p:sp>
      <p:sp>
        <p:nvSpPr>
          <p:cNvPr id="9" name="Text 5"/>
          <p:cNvSpPr txBox="1"/>
          <p:nvPr/>
        </p:nvSpPr>
        <p:spPr>
          <a:xfrm>
            <a:off x="777240" y="2926080"/>
            <a:ext cx="3088538" cy="96012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A second check on every dose before the syringe goes in. The person who benefits most, because they are the one administering.</a:t>
            </a:r>
            <a:endParaRPr lang="en-US" sz="1300" dirty="0"/>
          </a:p>
        </p:txBody>
      </p:sp>
      <p:sp>
        <p:nvSpPr>
          <p:cNvPr id="10" name="Shape 6"/>
          <p:cNvSpPr/>
          <p:nvPr/>
        </p:nvSpPr>
        <p:spPr>
          <a:xfrm>
            <a:off x="4322978" y="2286000"/>
            <a:ext cx="3545738" cy="1783080"/>
          </a:xfrm>
          <a:prstGeom prst="roundRect">
            <a:avLst>
              <a:gd name="adj" fmla="val 9231"/>
            </a:avLst>
          </a:prstGeom>
          <a:solidFill>
            <a:srgbClr val="FFFFFF">
              <a:alpha val="5000"/>
            </a:srgbClr>
          </a:solidFill>
          <a:ln w="9525">
            <a:solidFill>
              <a:srgbClr val="FFFFFF">
                <a:alpha val="18000"/>
              </a:srgbClr>
            </a:solidFill>
            <a:prstDash val="solid"/>
          </a:ln>
        </p:spPr>
      </p:sp>
      <p:sp>
        <p:nvSpPr>
          <p:cNvPr id="11" name="Text 7"/>
          <p:cNvSpPr txBox="1"/>
          <p:nvPr/>
        </p:nvSpPr>
        <p:spPr>
          <a:xfrm>
            <a:off x="4551578" y="2487168"/>
            <a:ext cx="3088538" cy="384048"/>
          </a:xfrm>
          <a:prstGeom prst="rect">
            <a:avLst/>
          </a:prstGeom>
          <a:noFill/>
          <a:ln/>
        </p:spPr>
        <p:txBody>
          <a:bodyPr wrap="square" lIns="0" tIns="0" rIns="0" bIns="0" rtlCol="0" anchor="t">
            <a:normAutofit/>
          </a:bodyPr>
          <a:lstStyle/>
          <a:p>
            <a:pPr indent="0" marL="0">
              <a:buNone/>
            </a:pPr>
            <a:r>
              <a:rPr lang="en-US" sz="2100" i="1" dirty="0">
                <a:solidFill>
                  <a:srgbClr val="FFFFFF"/>
                </a:solidFill>
                <a:latin typeface="Cambria" pitchFamily="34" charset="0"/>
                <a:ea typeface="Cambria" pitchFamily="34" charset="-122"/>
                <a:cs typeface="Cambria" pitchFamily="34" charset="-120"/>
              </a:rPr>
              <a:t>Surgeon</a:t>
            </a:r>
            <a:endParaRPr lang="en-US" sz="2100" dirty="0"/>
          </a:p>
        </p:txBody>
      </p:sp>
      <p:sp>
        <p:nvSpPr>
          <p:cNvPr id="12" name="Text 8"/>
          <p:cNvSpPr txBox="1"/>
          <p:nvPr/>
        </p:nvSpPr>
        <p:spPr>
          <a:xfrm>
            <a:off x="4551578" y="2926080"/>
            <a:ext cx="3088538" cy="96012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Confirmation that what was said is what is being given, without policing it. Orders, read-backs and alerts documented for them.</a:t>
            </a:r>
            <a:endParaRPr lang="en-US" sz="1300" dirty="0"/>
          </a:p>
        </p:txBody>
      </p:sp>
      <p:sp>
        <p:nvSpPr>
          <p:cNvPr id="13" name="Shape 9"/>
          <p:cNvSpPr/>
          <p:nvPr/>
        </p:nvSpPr>
        <p:spPr>
          <a:xfrm>
            <a:off x="8097317" y="2286000"/>
            <a:ext cx="3545738" cy="1783080"/>
          </a:xfrm>
          <a:prstGeom prst="roundRect">
            <a:avLst>
              <a:gd name="adj" fmla="val 9231"/>
            </a:avLst>
          </a:prstGeom>
          <a:solidFill>
            <a:srgbClr val="FFFFFF">
              <a:alpha val="5000"/>
            </a:srgbClr>
          </a:solidFill>
          <a:ln w="9525">
            <a:solidFill>
              <a:srgbClr val="FFFFFF">
                <a:alpha val="18000"/>
              </a:srgbClr>
            </a:solidFill>
            <a:prstDash val="solid"/>
          </a:ln>
        </p:spPr>
      </p:sp>
      <p:sp>
        <p:nvSpPr>
          <p:cNvPr id="14" name="Text 10"/>
          <p:cNvSpPr txBox="1"/>
          <p:nvPr/>
        </p:nvSpPr>
        <p:spPr>
          <a:xfrm>
            <a:off x="8325917" y="2487168"/>
            <a:ext cx="3088538" cy="384048"/>
          </a:xfrm>
          <a:prstGeom prst="rect">
            <a:avLst/>
          </a:prstGeom>
          <a:noFill/>
          <a:ln/>
        </p:spPr>
        <p:txBody>
          <a:bodyPr wrap="square" lIns="0" tIns="0" rIns="0" bIns="0" rtlCol="0" anchor="t">
            <a:normAutofit/>
          </a:bodyPr>
          <a:lstStyle/>
          <a:p>
            <a:pPr indent="0" marL="0">
              <a:buNone/>
            </a:pPr>
            <a:r>
              <a:rPr lang="en-US" sz="2100" i="1" dirty="0">
                <a:solidFill>
                  <a:srgbClr val="FFFFFF"/>
                </a:solidFill>
                <a:latin typeface="Cambria" pitchFamily="34" charset="0"/>
                <a:ea typeface="Cambria" pitchFamily="34" charset="-122"/>
                <a:cs typeface="Cambria" pitchFamily="34" charset="-120"/>
              </a:rPr>
              <a:t>Nurses</a:t>
            </a:r>
            <a:endParaRPr lang="en-US" sz="2100" dirty="0"/>
          </a:p>
        </p:txBody>
      </p:sp>
      <p:sp>
        <p:nvSpPr>
          <p:cNvPr id="15" name="Text 11"/>
          <p:cNvSpPr txBox="1"/>
          <p:nvPr/>
        </p:nvSpPr>
        <p:spPr>
          <a:xfrm>
            <a:off x="8325917" y="2926080"/>
            <a:ext cx="3088538" cy="96012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The checklist tracks itself. No clipboard, no chasing eight items while the room moves on.</a:t>
            </a:r>
            <a:endParaRPr lang="en-US" sz="1300" dirty="0"/>
          </a:p>
        </p:txBody>
      </p:sp>
      <p:sp>
        <p:nvSpPr>
          <p:cNvPr id="16" name="Shape 12"/>
          <p:cNvSpPr/>
          <p:nvPr/>
        </p:nvSpPr>
        <p:spPr>
          <a:xfrm>
            <a:off x="548640" y="4297680"/>
            <a:ext cx="5432908" cy="1920240"/>
          </a:xfrm>
          <a:prstGeom prst="roundRect">
            <a:avLst>
              <a:gd name="adj" fmla="val 8571"/>
            </a:avLst>
          </a:prstGeom>
          <a:solidFill>
            <a:srgbClr val="FFFFFF">
              <a:alpha val="5000"/>
            </a:srgbClr>
          </a:solidFill>
          <a:ln w="9525">
            <a:solidFill>
              <a:srgbClr val="FFFFFF">
                <a:alpha val="18000"/>
              </a:srgbClr>
            </a:solidFill>
            <a:prstDash val="solid"/>
          </a:ln>
        </p:spPr>
      </p:sp>
      <p:sp>
        <p:nvSpPr>
          <p:cNvPr id="17" name="Text 13"/>
          <p:cNvSpPr txBox="1"/>
          <p:nvPr/>
        </p:nvSpPr>
        <p:spPr>
          <a:xfrm>
            <a:off x="777240" y="4498848"/>
            <a:ext cx="4975708" cy="384048"/>
          </a:xfrm>
          <a:prstGeom prst="rect">
            <a:avLst/>
          </a:prstGeom>
          <a:noFill/>
          <a:ln/>
        </p:spPr>
        <p:txBody>
          <a:bodyPr wrap="square" lIns="0" tIns="0" rIns="0" bIns="0" rtlCol="0" anchor="t">
            <a:normAutofit/>
          </a:bodyPr>
          <a:lstStyle/>
          <a:p>
            <a:pPr indent="0" marL="0">
              <a:buNone/>
            </a:pPr>
            <a:r>
              <a:rPr lang="en-US" sz="2100" i="1" dirty="0">
                <a:solidFill>
                  <a:srgbClr val="FFFFFF"/>
                </a:solidFill>
                <a:latin typeface="Cambria" pitchFamily="34" charset="0"/>
                <a:ea typeface="Cambria" pitchFamily="34" charset="-122"/>
                <a:cs typeface="Cambria" pitchFamily="34" charset="-120"/>
              </a:rPr>
              <a:t>Quality &amp; safety office</a:t>
            </a:r>
            <a:endParaRPr lang="en-US" sz="2100" dirty="0"/>
          </a:p>
        </p:txBody>
      </p:sp>
      <p:sp>
        <p:nvSpPr>
          <p:cNvPr id="18" name="Text 14"/>
          <p:cNvSpPr txBox="1"/>
          <p:nvPr/>
        </p:nvSpPr>
        <p:spPr>
          <a:xfrm>
            <a:off x="777240" y="4937760"/>
            <a:ext cx="4975708" cy="10972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Objective closed-loop and checklist compliance per room and per team, and a defensible timestamped record when an incident is reviewed.</a:t>
            </a:r>
            <a:endParaRPr lang="en-US" sz="1300" dirty="0"/>
          </a:p>
        </p:txBody>
      </p:sp>
      <p:sp>
        <p:nvSpPr>
          <p:cNvPr id="19" name="Shape 15"/>
          <p:cNvSpPr/>
          <p:nvPr/>
        </p:nvSpPr>
        <p:spPr>
          <a:xfrm>
            <a:off x="6210148" y="4297680"/>
            <a:ext cx="5432908" cy="1920240"/>
          </a:xfrm>
          <a:prstGeom prst="roundRect">
            <a:avLst>
              <a:gd name="adj" fmla="val 8571"/>
            </a:avLst>
          </a:prstGeom>
          <a:solidFill>
            <a:srgbClr val="FFFFFF">
              <a:alpha val="5000"/>
            </a:srgbClr>
          </a:solidFill>
          <a:ln w="9525">
            <a:solidFill>
              <a:srgbClr val="FFFFFF">
                <a:alpha val="18000"/>
              </a:srgbClr>
            </a:solidFill>
            <a:prstDash val="solid"/>
          </a:ln>
        </p:spPr>
      </p:sp>
      <p:sp>
        <p:nvSpPr>
          <p:cNvPr id="20" name="Text 16"/>
          <p:cNvSpPr txBox="1"/>
          <p:nvPr/>
        </p:nvSpPr>
        <p:spPr>
          <a:xfrm>
            <a:off x="6438748" y="4498848"/>
            <a:ext cx="4975708" cy="384048"/>
          </a:xfrm>
          <a:prstGeom prst="rect">
            <a:avLst/>
          </a:prstGeom>
          <a:noFill/>
          <a:ln/>
        </p:spPr>
        <p:txBody>
          <a:bodyPr wrap="square" lIns="0" tIns="0" rIns="0" bIns="0" rtlCol="0" anchor="t">
            <a:normAutofit/>
          </a:bodyPr>
          <a:lstStyle/>
          <a:p>
            <a:pPr indent="0" marL="0">
              <a:buNone/>
            </a:pPr>
            <a:r>
              <a:rPr lang="en-US" sz="2100" i="1" dirty="0">
                <a:solidFill>
                  <a:srgbClr val="FFFFFF"/>
                </a:solidFill>
                <a:latin typeface="Cambria" pitchFamily="34" charset="0"/>
                <a:ea typeface="Cambria" pitchFamily="34" charset="-122"/>
                <a:cs typeface="Cambria" pitchFamily="34" charset="-120"/>
              </a:rPr>
              <a:t>A day with it</a:t>
            </a:r>
            <a:endParaRPr lang="en-US" sz="2100" dirty="0"/>
          </a:p>
        </p:txBody>
      </p:sp>
      <p:sp>
        <p:nvSpPr>
          <p:cNvPr id="21" name="Text 17"/>
          <p:cNvSpPr txBox="1"/>
          <p:nvPr/>
        </p:nvSpPr>
        <p:spPr>
          <a:xfrm>
            <a:off x="6438748" y="4937760"/>
            <a:ext cx="4975708" cy="10972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A microphone, a speaker, Surgr on the wall or nowhere visible. The team works as before. Once or twice a week it says “read-back mismatch, please re-confirm”. That sentence is the product.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10</a:t>
            </a:r>
            <a:endParaRPr lang="en-US" sz="1000" dirty="0"/>
          </a:p>
        </p:txBody>
      </p:sp>
      <p:sp>
        <p:nvSpPr>
          <p:cNvPr id="5" name="Text 1"/>
          <p:cNvSpPr txBox="1"/>
          <p:nvPr/>
        </p:nvSpPr>
        <p:spPr>
          <a:xfrm>
            <a:off x="548640" y="1143000"/>
            <a:ext cx="7315200" cy="274320"/>
          </a:xfrm>
          <a:prstGeom prst="rect">
            <a:avLst/>
          </a:prstGeom>
          <a:noFill/>
          <a:ln/>
        </p:spPr>
        <p:txBody>
          <a:bodyPr wrap="square" lIns="0" tIns="0" rIns="0" bIns="0" rtlCol="0" anchor="ctr"/>
          <a:lstStyle/>
          <a:p>
            <a:pPr indent="0" marL="0">
              <a:buNone/>
            </a:pPr>
            <a:r>
              <a:rPr lang="en-US" sz="1100" spc="400" kern="0" dirty="0">
                <a:solidFill>
                  <a:srgbClr val="9AA3B2"/>
                </a:solidFill>
                <a:latin typeface="Courier New" pitchFamily="34" charset="0"/>
                <a:ea typeface="Courier New" pitchFamily="34" charset="-122"/>
                <a:cs typeface="Courier New" pitchFamily="34" charset="-120"/>
              </a:rPr>
              <a:t>MARKET AND MODEL</a:t>
            </a:r>
            <a:endParaRPr lang="en-US" sz="1100" dirty="0"/>
          </a:p>
        </p:txBody>
      </p:sp>
      <p:sp>
        <p:nvSpPr>
          <p:cNvPr id="6" name="Text 2"/>
          <p:cNvSpPr txBox="1"/>
          <p:nvPr/>
        </p:nvSpPr>
        <p:spPr>
          <a:xfrm>
            <a:off x="548640" y="1417320"/>
            <a:ext cx="11094415" cy="731520"/>
          </a:xfrm>
          <a:prstGeom prst="rect">
            <a:avLst/>
          </a:prstGeom>
          <a:noFill/>
          <a:ln/>
        </p:spPr>
        <p:txBody>
          <a:bodyPr wrap="square" lIns="0" tIns="0" rIns="0" bIns="0" rtlCol="0" anchor="t">
            <a:normAutofit/>
          </a:bodyPr>
          <a:lstStyle/>
          <a:p>
            <a:pPr indent="0" marL="0">
              <a:buNone/>
            </a:pPr>
            <a:r>
              <a:rPr lang="en-US" sz="4000" i="1" dirty="0">
                <a:solidFill>
                  <a:srgbClr val="FFFFFF"/>
                </a:solidFill>
                <a:latin typeface="Cambria" pitchFamily="34" charset="0"/>
                <a:ea typeface="Cambria" pitchFamily="34" charset="-122"/>
                <a:cs typeface="Cambria" pitchFamily="34" charset="-120"/>
              </a:rPr>
              <a:t>Priced per operating room</a:t>
            </a:r>
            <a:endParaRPr lang="en-US" sz="4000" dirty="0"/>
          </a:p>
        </p:txBody>
      </p:sp>
      <p:sp>
        <p:nvSpPr>
          <p:cNvPr id="7" name="Shape 3"/>
          <p:cNvSpPr/>
          <p:nvPr/>
        </p:nvSpPr>
        <p:spPr>
          <a:xfrm>
            <a:off x="548640" y="2286000"/>
            <a:ext cx="3545738" cy="2514600"/>
          </a:xfrm>
          <a:prstGeom prst="roundRect">
            <a:avLst>
              <a:gd name="adj" fmla="val 6545"/>
            </a:avLst>
          </a:prstGeom>
          <a:solidFill>
            <a:srgbClr val="FFFFFF">
              <a:alpha val="5000"/>
            </a:srgbClr>
          </a:solidFill>
          <a:ln w="9525">
            <a:solidFill>
              <a:srgbClr val="FFFFFF">
                <a:alpha val="18000"/>
              </a:srgbClr>
            </a:solidFill>
            <a:prstDash val="solid"/>
          </a:ln>
        </p:spPr>
      </p:sp>
      <p:sp>
        <p:nvSpPr>
          <p:cNvPr id="8" name="Text 4"/>
          <p:cNvSpPr txBox="1"/>
          <p:nvPr/>
        </p:nvSpPr>
        <p:spPr>
          <a:xfrm>
            <a:off x="777240" y="2487168"/>
            <a:ext cx="3088538" cy="228600"/>
          </a:xfrm>
          <a:prstGeom prst="rect">
            <a:avLst/>
          </a:prstGeom>
          <a:noFill/>
          <a:ln/>
        </p:spPr>
        <p:txBody>
          <a:bodyPr wrap="square" lIns="0" tIns="0" rIns="0" bIns="0" rtlCol="0" anchor="ctr"/>
          <a:lstStyle/>
          <a:p>
            <a:pPr indent="0" marL="0">
              <a:buNone/>
            </a:pPr>
            <a:r>
              <a:rPr lang="en-US" sz="900" spc="300" kern="0" dirty="0">
                <a:solidFill>
                  <a:srgbClr val="2DD4BF"/>
                </a:solidFill>
                <a:latin typeface="Courier New" pitchFamily="34" charset="0"/>
                <a:ea typeface="Courier New" pitchFamily="34" charset="-122"/>
                <a:cs typeface="Courier New" pitchFamily="34" charset="-120"/>
              </a:rPr>
              <a:t>TAM</a:t>
            </a:r>
            <a:endParaRPr lang="en-US" sz="900" dirty="0"/>
          </a:p>
        </p:txBody>
      </p:sp>
      <p:sp>
        <p:nvSpPr>
          <p:cNvPr id="9" name="Text 5"/>
          <p:cNvSpPr txBox="1"/>
          <p:nvPr/>
        </p:nvSpPr>
        <p:spPr>
          <a:xfrm>
            <a:off x="777240" y="2779776"/>
            <a:ext cx="3088538" cy="685800"/>
          </a:xfrm>
          <a:prstGeom prst="rect">
            <a:avLst/>
          </a:prstGeom>
          <a:noFill/>
          <a:ln/>
        </p:spPr>
        <p:txBody>
          <a:bodyPr wrap="square" lIns="0" tIns="0" rIns="0" bIns="0" rtlCol="0" anchor="t">
            <a:normAutofit/>
          </a:bodyPr>
          <a:lstStyle/>
          <a:p>
            <a:pPr indent="0" marL="0">
              <a:buNone/>
            </a:pPr>
            <a:r>
              <a:rPr lang="en-US" sz="3200" i="1" dirty="0">
                <a:solidFill>
                  <a:srgbClr val="FFFFFF"/>
                </a:solidFill>
                <a:latin typeface="Cambria" pitchFamily="34" charset="0"/>
                <a:ea typeface="Cambria" pitchFamily="34" charset="-122"/>
                <a:cs typeface="Cambria" pitchFamily="34" charset="-120"/>
              </a:rPr>
              <a:t>310M+</a:t>
            </a:r>
            <a:endParaRPr lang="en-US" sz="3200" dirty="0"/>
          </a:p>
        </p:txBody>
      </p:sp>
      <p:sp>
        <p:nvSpPr>
          <p:cNvPr id="10" name="Text 6"/>
          <p:cNvSpPr txBox="1"/>
          <p:nvPr/>
        </p:nvSpPr>
        <p:spPr>
          <a:xfrm>
            <a:off x="777240" y="3511296"/>
            <a:ext cx="3088538" cy="1106424"/>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major operations a year worldwide, in an estimated 250,000+ operating rooms across hospitals and surgery centres.</a:t>
            </a:r>
            <a:endParaRPr lang="en-US" sz="1300" dirty="0"/>
          </a:p>
        </p:txBody>
      </p:sp>
      <p:sp>
        <p:nvSpPr>
          <p:cNvPr id="11" name="Shape 7"/>
          <p:cNvSpPr/>
          <p:nvPr/>
        </p:nvSpPr>
        <p:spPr>
          <a:xfrm>
            <a:off x="4322978" y="2286000"/>
            <a:ext cx="3545738" cy="2514600"/>
          </a:xfrm>
          <a:prstGeom prst="roundRect">
            <a:avLst>
              <a:gd name="adj" fmla="val 6545"/>
            </a:avLst>
          </a:prstGeom>
          <a:solidFill>
            <a:srgbClr val="FFFFFF">
              <a:alpha val="5000"/>
            </a:srgbClr>
          </a:solidFill>
          <a:ln w="9525">
            <a:solidFill>
              <a:srgbClr val="FFFFFF">
                <a:alpha val="18000"/>
              </a:srgbClr>
            </a:solidFill>
            <a:prstDash val="solid"/>
          </a:ln>
        </p:spPr>
      </p:sp>
      <p:sp>
        <p:nvSpPr>
          <p:cNvPr id="12" name="Text 8"/>
          <p:cNvSpPr txBox="1"/>
          <p:nvPr/>
        </p:nvSpPr>
        <p:spPr>
          <a:xfrm>
            <a:off x="4551578" y="2487168"/>
            <a:ext cx="3088538" cy="228600"/>
          </a:xfrm>
          <a:prstGeom prst="rect">
            <a:avLst/>
          </a:prstGeom>
          <a:noFill/>
          <a:ln/>
        </p:spPr>
        <p:txBody>
          <a:bodyPr wrap="square" lIns="0" tIns="0" rIns="0" bIns="0" rtlCol="0" anchor="ctr"/>
          <a:lstStyle/>
          <a:p>
            <a:pPr indent="0" marL="0">
              <a:buNone/>
            </a:pPr>
            <a:r>
              <a:rPr lang="en-US" sz="900" spc="300" kern="0" dirty="0">
                <a:solidFill>
                  <a:srgbClr val="2DD4BF"/>
                </a:solidFill>
                <a:latin typeface="Courier New" pitchFamily="34" charset="0"/>
                <a:ea typeface="Courier New" pitchFamily="34" charset="-122"/>
                <a:cs typeface="Courier New" pitchFamily="34" charset="-120"/>
              </a:rPr>
              <a:t>SAM · United States first</a:t>
            </a:r>
            <a:endParaRPr lang="en-US" sz="900" dirty="0"/>
          </a:p>
        </p:txBody>
      </p:sp>
      <p:sp>
        <p:nvSpPr>
          <p:cNvPr id="13" name="Text 9"/>
          <p:cNvSpPr txBox="1"/>
          <p:nvPr/>
        </p:nvSpPr>
        <p:spPr>
          <a:xfrm>
            <a:off x="4551578" y="2779776"/>
            <a:ext cx="3088538" cy="685800"/>
          </a:xfrm>
          <a:prstGeom prst="rect">
            <a:avLst/>
          </a:prstGeom>
          <a:noFill/>
          <a:ln/>
        </p:spPr>
        <p:txBody>
          <a:bodyPr wrap="square" lIns="0" tIns="0" rIns="0" bIns="0" rtlCol="0" anchor="t">
            <a:normAutofit/>
          </a:bodyPr>
          <a:lstStyle/>
          <a:p>
            <a:pPr indent="0" marL="0">
              <a:buNone/>
            </a:pPr>
            <a:r>
              <a:rPr lang="en-US" sz="3200" i="1" dirty="0">
                <a:solidFill>
                  <a:srgbClr val="FFFFFF"/>
                </a:solidFill>
                <a:latin typeface="Cambria" pitchFamily="34" charset="0"/>
                <a:ea typeface="Cambria" pitchFamily="34" charset="-122"/>
                <a:cs typeface="Cambria" pitchFamily="34" charset="-120"/>
              </a:rPr>
              <a:t>≈$240M/yr</a:t>
            </a:r>
            <a:endParaRPr lang="en-US" sz="3200" dirty="0"/>
          </a:p>
        </p:txBody>
      </p:sp>
      <p:sp>
        <p:nvSpPr>
          <p:cNvPr id="14" name="Text 10"/>
          <p:cNvSpPr txBox="1"/>
          <p:nvPr/>
        </p:nvSpPr>
        <p:spPr>
          <a:xfrm>
            <a:off x="4551578" y="3511296"/>
            <a:ext cx="3088538" cy="1106424"/>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≈40,000 US operating rooms × $500 per OR per month. Sold to hospital quality and perioperative leadership.</a:t>
            </a:r>
            <a:endParaRPr lang="en-US" sz="1300" dirty="0"/>
          </a:p>
        </p:txBody>
      </p:sp>
      <p:sp>
        <p:nvSpPr>
          <p:cNvPr id="15" name="Shape 11"/>
          <p:cNvSpPr/>
          <p:nvPr/>
        </p:nvSpPr>
        <p:spPr>
          <a:xfrm>
            <a:off x="8097317" y="2286000"/>
            <a:ext cx="3545738" cy="2514600"/>
          </a:xfrm>
          <a:prstGeom prst="roundRect">
            <a:avLst>
              <a:gd name="adj" fmla="val 6545"/>
            </a:avLst>
          </a:prstGeom>
          <a:solidFill>
            <a:srgbClr val="FFFFFF">
              <a:alpha val="5000"/>
            </a:srgbClr>
          </a:solidFill>
          <a:ln w="9525">
            <a:solidFill>
              <a:srgbClr val="FFFFFF">
                <a:alpha val="18000"/>
              </a:srgbClr>
            </a:solidFill>
            <a:prstDash val="solid"/>
          </a:ln>
        </p:spPr>
      </p:sp>
      <p:sp>
        <p:nvSpPr>
          <p:cNvPr id="16" name="Text 12"/>
          <p:cNvSpPr txBox="1"/>
          <p:nvPr/>
        </p:nvSpPr>
        <p:spPr>
          <a:xfrm>
            <a:off x="8325917" y="2487168"/>
            <a:ext cx="3088538" cy="228600"/>
          </a:xfrm>
          <a:prstGeom prst="rect">
            <a:avLst/>
          </a:prstGeom>
          <a:noFill/>
          <a:ln/>
        </p:spPr>
        <p:txBody>
          <a:bodyPr wrap="square" lIns="0" tIns="0" rIns="0" bIns="0" rtlCol="0" anchor="ctr"/>
          <a:lstStyle/>
          <a:p>
            <a:pPr indent="0" marL="0">
              <a:buNone/>
            </a:pPr>
            <a:r>
              <a:rPr lang="en-US" sz="900" spc="300" kern="0" dirty="0">
                <a:solidFill>
                  <a:srgbClr val="2DD4BF"/>
                </a:solidFill>
                <a:latin typeface="Courier New" pitchFamily="34" charset="0"/>
                <a:ea typeface="Courier New" pitchFamily="34" charset="-122"/>
                <a:cs typeface="Courier New" pitchFamily="34" charset="-120"/>
              </a:rPr>
              <a:t>Beachhead</a:t>
            </a:r>
            <a:endParaRPr lang="en-US" sz="900" dirty="0"/>
          </a:p>
        </p:txBody>
      </p:sp>
      <p:sp>
        <p:nvSpPr>
          <p:cNvPr id="17" name="Text 13"/>
          <p:cNvSpPr txBox="1"/>
          <p:nvPr/>
        </p:nvSpPr>
        <p:spPr>
          <a:xfrm>
            <a:off x="8325917" y="2779776"/>
            <a:ext cx="3088538" cy="685800"/>
          </a:xfrm>
          <a:prstGeom prst="rect">
            <a:avLst/>
          </a:prstGeom>
          <a:noFill/>
          <a:ln/>
        </p:spPr>
        <p:txBody>
          <a:bodyPr wrap="square" lIns="0" tIns="0" rIns="0" bIns="0" rtlCol="0" anchor="t">
            <a:normAutofit/>
          </a:bodyPr>
          <a:lstStyle/>
          <a:p>
            <a:pPr indent="0" marL="0">
              <a:buNone/>
            </a:pPr>
            <a:r>
              <a:rPr lang="en-US" sz="3200" i="1" dirty="0">
                <a:solidFill>
                  <a:srgbClr val="FFFFFF"/>
                </a:solidFill>
                <a:latin typeface="Cambria" pitchFamily="34" charset="0"/>
                <a:ea typeface="Cambria" pitchFamily="34" charset="-122"/>
                <a:cs typeface="Cambria" pitchFamily="34" charset="-120"/>
              </a:rPr>
              <a:t>≈$10M/yr</a:t>
            </a:r>
            <a:endParaRPr lang="en-US" sz="3200" dirty="0"/>
          </a:p>
        </p:txBody>
      </p:sp>
      <p:sp>
        <p:nvSpPr>
          <p:cNvPr id="18" name="Text 14"/>
          <p:cNvSpPr txBox="1"/>
          <p:nvPr/>
        </p:nvSpPr>
        <p:spPr>
          <a:xfrm>
            <a:off x="8325917" y="3511296"/>
            <a:ext cx="3088538" cy="1106424"/>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≈1,000 simulation centres and residency programmes at $10k per site licence, where instant spoken feedback needs no regulatory clearance.</a:t>
            </a:r>
            <a:endParaRPr lang="en-US" sz="1300" dirty="0"/>
          </a:p>
        </p:txBody>
      </p:sp>
      <p:sp>
        <p:nvSpPr>
          <p:cNvPr id="19" name="Shape 15"/>
          <p:cNvSpPr/>
          <p:nvPr/>
        </p:nvSpPr>
        <p:spPr>
          <a:xfrm>
            <a:off x="548640" y="5029200"/>
            <a:ext cx="11094415" cy="1325880"/>
          </a:xfrm>
          <a:prstGeom prst="roundRect">
            <a:avLst>
              <a:gd name="adj" fmla="val 12414"/>
            </a:avLst>
          </a:prstGeom>
          <a:solidFill>
            <a:srgbClr val="FFFFFF">
              <a:alpha val="5000"/>
            </a:srgbClr>
          </a:solidFill>
          <a:ln w="9525">
            <a:solidFill>
              <a:srgbClr val="FFFFFF">
                <a:alpha val="18000"/>
              </a:srgbClr>
            </a:solidFill>
            <a:prstDash val="solid"/>
          </a:ln>
        </p:spPr>
      </p:sp>
      <p:sp>
        <p:nvSpPr>
          <p:cNvPr id="20" name="Text 16"/>
          <p:cNvSpPr txBox="1"/>
          <p:nvPr/>
        </p:nvSpPr>
        <p:spPr>
          <a:xfrm>
            <a:off x="777240" y="5230368"/>
            <a:ext cx="10637215" cy="384048"/>
          </a:xfrm>
          <a:prstGeom prst="rect">
            <a:avLst/>
          </a:prstGeom>
          <a:noFill/>
          <a:ln/>
        </p:spPr>
        <p:txBody>
          <a:bodyPr wrap="square" lIns="0" tIns="0" rIns="0" bIns="0" rtlCol="0" anchor="t">
            <a:normAutofit/>
          </a:bodyPr>
          <a:lstStyle/>
          <a:p>
            <a:pPr indent="0" marL="0">
              <a:buNone/>
            </a:pPr>
            <a:r>
              <a:rPr lang="en-US" sz="2000" i="1" dirty="0">
                <a:solidFill>
                  <a:srgbClr val="FFFFFF"/>
                </a:solidFill>
                <a:latin typeface="Cambria" pitchFamily="34" charset="0"/>
                <a:ea typeface="Cambria" pitchFamily="34" charset="-122"/>
                <a:cs typeface="Cambria" pitchFamily="34" charset="-120"/>
              </a:rPr>
              <a:t>Revenue streams</a:t>
            </a:r>
            <a:endParaRPr lang="en-US" sz="2000" dirty="0"/>
          </a:p>
        </p:txBody>
      </p:sp>
      <p:sp>
        <p:nvSpPr>
          <p:cNvPr id="21" name="Text 17"/>
          <p:cNvSpPr txBox="1"/>
          <p:nvPr/>
        </p:nvSpPr>
        <p:spPr>
          <a:xfrm>
            <a:off x="777240" y="5669280"/>
            <a:ext cx="10637215" cy="50292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Per-OR subscription for live use · site licences for simulation and training · analytics tier for quality offices · integration services for EHR export. Figures are planning estimates, not audited market data.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11</a:t>
            </a:r>
            <a:endParaRPr lang="en-US" sz="1000" dirty="0"/>
          </a:p>
        </p:txBody>
      </p:sp>
      <p:sp>
        <p:nvSpPr>
          <p:cNvPr id="5" name="Text 1"/>
          <p:cNvSpPr txBox="1"/>
          <p:nvPr/>
        </p:nvSpPr>
        <p:spPr>
          <a:xfrm>
            <a:off x="548640" y="1143000"/>
            <a:ext cx="7315200" cy="274320"/>
          </a:xfrm>
          <a:prstGeom prst="rect">
            <a:avLst/>
          </a:prstGeom>
          <a:noFill/>
          <a:ln/>
        </p:spPr>
        <p:txBody>
          <a:bodyPr wrap="square" lIns="0" tIns="0" rIns="0" bIns="0" rtlCol="0" anchor="ctr"/>
          <a:lstStyle/>
          <a:p>
            <a:pPr indent="0" marL="0">
              <a:buNone/>
            </a:pPr>
            <a:r>
              <a:rPr lang="en-US" sz="1100" spc="400" kern="0" dirty="0">
                <a:solidFill>
                  <a:srgbClr val="9AA3B2"/>
                </a:solidFill>
                <a:latin typeface="Courier New" pitchFamily="34" charset="0"/>
                <a:ea typeface="Courier New" pitchFamily="34" charset="-122"/>
                <a:cs typeface="Courier New" pitchFamily="34" charset="-120"/>
              </a:rPr>
              <a:t>COMPETITIVE LANDSCAPE</a:t>
            </a:r>
            <a:endParaRPr lang="en-US" sz="1100" dirty="0"/>
          </a:p>
        </p:txBody>
      </p:sp>
      <p:sp>
        <p:nvSpPr>
          <p:cNvPr id="6" name="Text 2"/>
          <p:cNvSpPr txBox="1"/>
          <p:nvPr/>
        </p:nvSpPr>
        <p:spPr>
          <a:xfrm>
            <a:off x="548640" y="1417320"/>
            <a:ext cx="11094415" cy="731520"/>
          </a:xfrm>
          <a:prstGeom prst="rect">
            <a:avLst/>
          </a:prstGeom>
          <a:noFill/>
          <a:ln/>
        </p:spPr>
        <p:txBody>
          <a:bodyPr wrap="square" lIns="0" tIns="0" rIns="0" bIns="0" rtlCol="0" anchor="t">
            <a:normAutofit/>
          </a:bodyPr>
          <a:lstStyle/>
          <a:p>
            <a:pPr indent="0" marL="0">
              <a:buNone/>
            </a:pPr>
            <a:r>
              <a:rPr lang="en-US" sz="3600" i="1" dirty="0">
                <a:solidFill>
                  <a:srgbClr val="FFFFFF"/>
                </a:solidFill>
                <a:latin typeface="Cambria" pitchFamily="34" charset="0"/>
                <a:ea typeface="Cambria" pitchFamily="34" charset="-122"/>
                <a:cs typeface="Cambria" pitchFamily="34" charset="-120"/>
              </a:rPr>
              <a:t>Others document or review. Surgr intervenes.</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2194560"/>
                <a:gridCol w="2468880"/>
                <a:gridCol w="2743200"/>
                <a:gridCol w="3685032"/>
              </a:tblGrid>
              <a:tr h="0">
                <a:tc>
                  <a:txBody>
                    <a:bodyPr/>
                    <a:lstStyle/>
                    <a:p>
                      <a:pPr indent="0" marL="0">
                        <a:buNone/>
                      </a:pPr>
                      <a:r>
                        <a:rPr lang="en-US" sz="900" spc="200" kern="0" dirty="0">
                          <a:solidFill>
                            <a:srgbClr val="9AA3B2"/>
                          </a:solidFill>
                          <a:latin typeface="Courier New" pitchFamily="34" charset="0"/>
                          <a:ea typeface="Courier New" pitchFamily="34" charset="-122"/>
                          <a:cs typeface="Courier New" pitchFamily="34" charset="-120"/>
                        </a:rPr>
                        <a:t>CATEGORY</a:t>
                      </a:r>
                      <a:endParaRPr lang="en-US" sz="900" dirty="0">
                        <a:latin typeface="Courier New" charset="0"/>
                        <a:ea typeface="Courier New" charset="0"/>
                        <a:cs typeface="Courier New" charset="0"/>
                      </a:endParaRPr>
                    </a:p>
                  </a:txBody>
                  <a:tcPr marL="0" marR="76200" marT="50800" marB="76200">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000000">
                        <a:alpha val="0"/>
                      </a:srgbClr>
                    </a:solidFill>
                  </a:tcPr>
                </a:tc>
                <a:tc>
                  <a:txBody>
                    <a:bodyPr/>
                    <a:lstStyle/>
                    <a:p>
                      <a:pPr indent="0" marL="0">
                        <a:buNone/>
                      </a:pPr>
                      <a:r>
                        <a:rPr lang="en-US" sz="900" spc="200" kern="0" dirty="0">
                          <a:solidFill>
                            <a:srgbClr val="9AA3B2"/>
                          </a:solidFill>
                          <a:latin typeface="Courier New" pitchFamily="34" charset="0"/>
                          <a:ea typeface="Courier New" pitchFamily="34" charset="-122"/>
                          <a:cs typeface="Courier New" pitchFamily="34" charset="-120"/>
                        </a:rPr>
                        <a:t>EXAMPLES</a:t>
                      </a:r>
                      <a:endParaRPr lang="en-US" sz="900" dirty="0">
                        <a:latin typeface="Courier New" charset="0"/>
                        <a:ea typeface="Courier New" charset="0"/>
                        <a:cs typeface="Courier New" charset="0"/>
                      </a:endParaRPr>
                    </a:p>
                  </a:txBody>
                  <a:tcPr marL="0" marR="76200" marT="50800" marB="76200">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000000">
                        <a:alpha val="0"/>
                      </a:srgbClr>
                    </a:solidFill>
                  </a:tcPr>
                </a:tc>
                <a:tc>
                  <a:txBody>
                    <a:bodyPr/>
                    <a:lstStyle/>
                    <a:p>
                      <a:pPr indent="0" marL="0">
                        <a:buNone/>
                      </a:pPr>
                      <a:r>
                        <a:rPr lang="en-US" sz="900" spc="200" kern="0" dirty="0">
                          <a:solidFill>
                            <a:srgbClr val="9AA3B2"/>
                          </a:solidFill>
                          <a:latin typeface="Courier New" pitchFamily="34" charset="0"/>
                          <a:ea typeface="Courier New" pitchFamily="34" charset="-122"/>
                          <a:cs typeface="Courier New" pitchFamily="34" charset="-120"/>
                        </a:rPr>
                        <a:t>WHAT THEY DO</a:t>
                      </a:r>
                      <a:endParaRPr lang="en-US" sz="900" dirty="0">
                        <a:latin typeface="Courier New" charset="0"/>
                        <a:ea typeface="Courier New" charset="0"/>
                        <a:cs typeface="Courier New" charset="0"/>
                      </a:endParaRPr>
                    </a:p>
                  </a:txBody>
                  <a:tcPr marL="0" marR="76200" marT="50800" marB="76200">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000000">
                        <a:alpha val="0"/>
                      </a:srgbClr>
                    </a:solidFill>
                  </a:tcPr>
                </a:tc>
                <a:tc>
                  <a:txBody>
                    <a:bodyPr/>
                    <a:lstStyle/>
                    <a:p>
                      <a:pPr indent="0" marL="0">
                        <a:buNone/>
                      </a:pPr>
                      <a:r>
                        <a:rPr lang="en-US" sz="900" spc="200" kern="0" dirty="0">
                          <a:solidFill>
                            <a:srgbClr val="9AA3B2"/>
                          </a:solidFill>
                          <a:latin typeface="Courier New" pitchFamily="34" charset="0"/>
                          <a:ea typeface="Courier New" pitchFamily="34" charset="-122"/>
                          <a:cs typeface="Courier New" pitchFamily="34" charset="-120"/>
                        </a:rPr>
                        <a:t>WHAT SURGR DOES DIFFERENTLY</a:t>
                      </a:r>
                      <a:endParaRPr lang="en-US" sz="900" dirty="0">
                        <a:latin typeface="Courier New" charset="0"/>
                        <a:ea typeface="Courier New" charset="0"/>
                        <a:cs typeface="Courier New" charset="0"/>
                      </a:endParaRPr>
                    </a:p>
                  </a:txBody>
                  <a:tcPr marL="0" marR="76200" marT="50800" marB="76200">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000000">
                        <a:alpha val="0"/>
                      </a:srgbClr>
                    </a:solidFill>
                  </a:tcPr>
                </a:tc>
              </a:tr>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Ambient clinical scribes</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Abridge, Nuance DAX, Ambience</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Turn conversations into notes after the fact.</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Acts during the case, in the room, out loud.</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r>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OR black-box analytics</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Surgical Safety Technologies</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Record the OR for retrospective review.</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Closes the loop in the moment; the record is a by-product.</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r>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Checklist apps</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Digital WHO checklists</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Someone taps items on a tablet.</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Items tick from speech; skipped phases are spoken alerts.</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r>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Hackathon look-alikes</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OR and resuscitation voice recorders</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Same instinct: transcribe and flag.</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c>
                  <a:txBody>
                    <a:bodyPr/>
                    <a:lstStyle/>
                    <a:p>
                      <a:pPr indent="0" marL="0">
                        <a:buNone/>
                      </a:pPr>
                      <a:r>
                        <a:rPr lang="en-US" sz="1200" dirty="0">
                          <a:solidFill>
                            <a:srgbClr val="D9DEE7"/>
                          </a:solidFill>
                          <a:latin typeface="Calibri" pitchFamily="34" charset="0"/>
                          <a:ea typeface="Calibri" pitchFamily="34" charset="-122"/>
                          <a:cs typeface="Calibri" pitchFamily="34" charset="-120"/>
                        </a:rPr>
                        <a:t>Deterministic dose and unit logic, speaker-aware self-read-back detection, a room that can ask questions, delivery to Telegram and a spoken debrief, all verified live.</a:t>
                      </a:r>
                      <a:endParaRPr lang="en-US" sz="1200" dirty="0">
                        <a:latin typeface="Calibri" charset="0"/>
                        <a:ea typeface="Calibri" charset="0"/>
                        <a:cs typeface="Calibri" charset="0"/>
                      </a:endParaRPr>
                    </a:p>
                  </a:txBody>
                  <a:tcPr marL="0" marR="76200" marT="88900" marB="88900" anchor="t">
                    <a:lnL w="0" cap="flat" cmpd="sng" algn="ctr">
                      <a:noFill/>
                    </a:lnL>
                    <a:lnR w="0" cap="flat" cmpd="sng" algn="ctr">
                      <a:noFill/>
                    </a:lnR>
                    <a:lnT w="0" cap="flat" cmpd="sng" algn="ctr">
                      <a:noFill/>
                    </a:lnT>
                    <a:lnB w="6350" cap="flat" cmpd="sng" algn="ctr">
                      <a:solidFill>
                        <a:srgbClr val="262A33"/>
                      </a:solidFill>
                      <a:prstDash val="solid"/>
                      <a:round/>
                      <a:headEnd type="none" w="med" len="med"/>
                      <a:tailEnd type="none" w="med" len="med"/>
                    </a:lnB>
                    <a:solidFill>
                      <a:srgbClr val="000000">
                        <a:alpha val="0"/>
                      </a:srgbClr>
                    </a:solidFill>
                  </a:tcPr>
                </a:tc>
              </a:tr>
            </a:tbl>
          </a:graphicData>
        </a:graphic>
      </p:graphicFrame>
      <p:sp>
        <p:nvSpPr>
          <p:cNvPr id="8" name="Text 3"/>
          <p:cNvSpPr txBox="1"/>
          <p:nvPr/>
        </p:nvSpPr>
        <p:spPr>
          <a:xfrm>
            <a:off x="548640" y="5989320"/>
            <a:ext cx="11094415" cy="365760"/>
          </a:xfrm>
          <a:prstGeom prst="rect">
            <a:avLst/>
          </a:prstGeom>
          <a:noFill/>
          <a:ln/>
        </p:spPr>
        <p:txBody>
          <a:bodyPr wrap="square" lIns="0" tIns="0" rIns="0" bIns="0" rtlCol="0" anchor="ctr"/>
          <a:lstStyle/>
          <a:p>
            <a:pPr indent="0" marL="0">
              <a:buNone/>
            </a:pPr>
            <a:r>
              <a:rPr lang="en-US" sz="1100" dirty="0">
                <a:solidFill>
                  <a:srgbClr val="9AA3B2"/>
                </a:solidFill>
                <a:latin typeface="Calibri" pitchFamily="34" charset="0"/>
                <a:ea typeface="Calibri" pitchFamily="34" charset="-122"/>
                <a:cs typeface="Calibri" pitchFamily="34" charset="-120"/>
              </a:rPr>
              <a:t>Moat: the deterministic safety engine and the evidence base it produces, not the transcription layer.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12</a:t>
            </a:r>
            <a:endParaRPr lang="en-US" sz="1000" dirty="0"/>
          </a:p>
        </p:txBody>
      </p:sp>
      <p:sp>
        <p:nvSpPr>
          <p:cNvPr id="5" name="Text 1"/>
          <p:cNvSpPr txBox="1"/>
          <p:nvPr/>
        </p:nvSpPr>
        <p:spPr>
          <a:xfrm>
            <a:off x="548640" y="1143000"/>
            <a:ext cx="7315200" cy="274320"/>
          </a:xfrm>
          <a:prstGeom prst="rect">
            <a:avLst/>
          </a:prstGeom>
          <a:noFill/>
          <a:ln/>
        </p:spPr>
        <p:txBody>
          <a:bodyPr wrap="square" lIns="0" tIns="0" rIns="0" bIns="0" rtlCol="0" anchor="ctr"/>
          <a:lstStyle/>
          <a:p>
            <a:pPr indent="0" marL="0">
              <a:buNone/>
            </a:pPr>
            <a:r>
              <a:rPr lang="en-US" sz="1100" spc="400" kern="0" dirty="0">
                <a:solidFill>
                  <a:srgbClr val="9AA3B2"/>
                </a:solidFill>
                <a:latin typeface="Courier New" pitchFamily="34" charset="0"/>
                <a:ea typeface="Courier New" pitchFamily="34" charset="-122"/>
                <a:cs typeface="Courier New" pitchFamily="34" charset="-120"/>
              </a:rPr>
              <a:t>ROADMAP AND HONESTY</a:t>
            </a:r>
            <a:endParaRPr lang="en-US" sz="1100" dirty="0"/>
          </a:p>
        </p:txBody>
      </p:sp>
      <p:sp>
        <p:nvSpPr>
          <p:cNvPr id="6" name="Text 2"/>
          <p:cNvSpPr txBox="1"/>
          <p:nvPr/>
        </p:nvSpPr>
        <p:spPr>
          <a:xfrm>
            <a:off x="548640" y="1417320"/>
            <a:ext cx="11094415" cy="731520"/>
          </a:xfrm>
          <a:prstGeom prst="rect">
            <a:avLst/>
          </a:prstGeom>
          <a:noFill/>
          <a:ln/>
        </p:spPr>
        <p:txBody>
          <a:bodyPr wrap="square" lIns="0" tIns="0" rIns="0" bIns="0" rtlCol="0" anchor="t">
            <a:normAutofit/>
          </a:bodyPr>
          <a:lstStyle/>
          <a:p>
            <a:pPr indent="0" marL="0">
              <a:buNone/>
            </a:pPr>
            <a:r>
              <a:rPr lang="en-US" sz="4000" i="1" dirty="0">
                <a:solidFill>
                  <a:srgbClr val="FFFFFF"/>
                </a:solidFill>
                <a:latin typeface="Cambria" pitchFamily="34" charset="0"/>
                <a:ea typeface="Cambria" pitchFamily="34" charset="-122"/>
                <a:cs typeface="Cambria" pitchFamily="34" charset="-120"/>
              </a:rPr>
              <a:t>Three stages into the operating room</a:t>
            </a:r>
            <a:endParaRPr lang="en-US" sz="4000" dirty="0"/>
          </a:p>
        </p:txBody>
      </p:sp>
      <p:sp>
        <p:nvSpPr>
          <p:cNvPr id="7" name="Shape 3"/>
          <p:cNvSpPr/>
          <p:nvPr/>
        </p:nvSpPr>
        <p:spPr>
          <a:xfrm>
            <a:off x="548640" y="2286000"/>
            <a:ext cx="3545738" cy="2148840"/>
          </a:xfrm>
          <a:prstGeom prst="roundRect">
            <a:avLst>
              <a:gd name="adj" fmla="val 7660"/>
            </a:avLst>
          </a:prstGeom>
          <a:solidFill>
            <a:srgbClr val="FFFFFF">
              <a:alpha val="5000"/>
            </a:srgbClr>
          </a:solidFill>
          <a:ln w="9525">
            <a:solidFill>
              <a:srgbClr val="FFFFFF">
                <a:alpha val="18000"/>
              </a:srgbClr>
            </a:solidFill>
            <a:prstDash val="solid"/>
          </a:ln>
        </p:spPr>
      </p:sp>
      <p:sp>
        <p:nvSpPr>
          <p:cNvPr id="8" name="Text 4"/>
          <p:cNvSpPr txBox="1"/>
          <p:nvPr/>
        </p:nvSpPr>
        <p:spPr>
          <a:xfrm>
            <a:off x="777240" y="2487168"/>
            <a:ext cx="3088538" cy="228600"/>
          </a:xfrm>
          <a:prstGeom prst="rect">
            <a:avLst/>
          </a:prstGeom>
          <a:noFill/>
          <a:ln/>
        </p:spPr>
        <p:txBody>
          <a:bodyPr wrap="square" lIns="0" tIns="0" rIns="0" bIns="0" rtlCol="0" anchor="ctr"/>
          <a:lstStyle/>
          <a:p>
            <a:pPr indent="0" marL="0">
              <a:buNone/>
            </a:pPr>
            <a:r>
              <a:rPr lang="en-US" sz="900" spc="300" kern="0" dirty="0">
                <a:solidFill>
                  <a:srgbClr val="2DD4BF"/>
                </a:solidFill>
                <a:latin typeface="Courier New" pitchFamily="34" charset="0"/>
                <a:ea typeface="Courier New" pitchFamily="34" charset="-122"/>
                <a:cs typeface="Courier New" pitchFamily="34" charset="-120"/>
              </a:rPr>
              <a:t>STAGE 1 · NOW</a:t>
            </a:r>
            <a:endParaRPr lang="en-US" sz="900" dirty="0"/>
          </a:p>
        </p:txBody>
      </p:sp>
      <p:sp>
        <p:nvSpPr>
          <p:cNvPr id="9" name="Text 5"/>
          <p:cNvSpPr txBox="1"/>
          <p:nvPr/>
        </p:nvSpPr>
        <p:spPr>
          <a:xfrm>
            <a:off x="777240" y="2779776"/>
            <a:ext cx="3088538" cy="768096"/>
          </a:xfrm>
          <a:prstGeom prst="rect">
            <a:avLst/>
          </a:prstGeom>
          <a:noFill/>
          <a:ln/>
        </p:spPr>
        <p:txBody>
          <a:bodyPr wrap="square" lIns="0" tIns="0" rIns="0" bIns="0" rtlCol="0" anchor="t">
            <a:normAutofit/>
          </a:bodyPr>
          <a:lstStyle/>
          <a:p>
            <a:pPr indent="0" marL="0">
              <a:buNone/>
            </a:pPr>
            <a:r>
              <a:rPr lang="en-US" sz="2100" i="1" dirty="0">
                <a:solidFill>
                  <a:srgbClr val="FFFFFF"/>
                </a:solidFill>
                <a:latin typeface="Cambria" pitchFamily="34" charset="0"/>
                <a:ea typeface="Cambria" pitchFamily="34" charset="-122"/>
                <a:cs typeface="Cambria" pitchFamily="34" charset="-120"/>
              </a:rPr>
              <a:t>Simulation and training</a:t>
            </a:r>
            <a:endParaRPr lang="en-US" sz="2100" dirty="0"/>
          </a:p>
        </p:txBody>
      </p:sp>
      <p:sp>
        <p:nvSpPr>
          <p:cNvPr id="10" name="Text 6"/>
          <p:cNvSpPr txBox="1"/>
          <p:nvPr/>
        </p:nvSpPr>
        <p:spPr>
          <a:xfrm>
            <a:off x="777240" y="3602736"/>
            <a:ext cx="3088538" cy="649224"/>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Residency programmes and simulation labs. Instant spoken feedback teaches closed-loop discipline. No regulatory barrier.</a:t>
            </a:r>
            <a:endParaRPr lang="en-US" sz="1300" dirty="0"/>
          </a:p>
        </p:txBody>
      </p:sp>
      <p:sp>
        <p:nvSpPr>
          <p:cNvPr id="11" name="Shape 7"/>
          <p:cNvSpPr/>
          <p:nvPr/>
        </p:nvSpPr>
        <p:spPr>
          <a:xfrm>
            <a:off x="4322978" y="2286000"/>
            <a:ext cx="3545738" cy="2148840"/>
          </a:xfrm>
          <a:prstGeom prst="roundRect">
            <a:avLst>
              <a:gd name="adj" fmla="val 7660"/>
            </a:avLst>
          </a:prstGeom>
          <a:solidFill>
            <a:srgbClr val="FFFFFF">
              <a:alpha val="5000"/>
            </a:srgbClr>
          </a:solidFill>
          <a:ln w="9525">
            <a:solidFill>
              <a:srgbClr val="FFFFFF">
                <a:alpha val="18000"/>
              </a:srgbClr>
            </a:solidFill>
            <a:prstDash val="solid"/>
          </a:ln>
        </p:spPr>
      </p:sp>
      <p:sp>
        <p:nvSpPr>
          <p:cNvPr id="12" name="Text 8"/>
          <p:cNvSpPr txBox="1"/>
          <p:nvPr/>
        </p:nvSpPr>
        <p:spPr>
          <a:xfrm>
            <a:off x="4551578" y="2487168"/>
            <a:ext cx="3088538" cy="228600"/>
          </a:xfrm>
          <a:prstGeom prst="rect">
            <a:avLst/>
          </a:prstGeom>
          <a:noFill/>
          <a:ln/>
        </p:spPr>
        <p:txBody>
          <a:bodyPr wrap="square" lIns="0" tIns="0" rIns="0" bIns="0" rtlCol="0" anchor="ctr"/>
          <a:lstStyle/>
          <a:p>
            <a:pPr indent="0" marL="0">
              <a:buNone/>
            </a:pPr>
            <a:r>
              <a:rPr lang="en-US" sz="900" spc="300" kern="0" dirty="0">
                <a:solidFill>
                  <a:srgbClr val="2DD4BF"/>
                </a:solidFill>
                <a:latin typeface="Courier New" pitchFamily="34" charset="0"/>
                <a:ea typeface="Courier New" pitchFamily="34" charset="-122"/>
                <a:cs typeface="Courier New" pitchFamily="34" charset="-120"/>
              </a:rPr>
              <a:t>STAGE 2</a:t>
            </a:r>
            <a:endParaRPr lang="en-US" sz="900" dirty="0"/>
          </a:p>
        </p:txBody>
      </p:sp>
      <p:sp>
        <p:nvSpPr>
          <p:cNvPr id="13" name="Text 9"/>
          <p:cNvSpPr txBox="1"/>
          <p:nvPr/>
        </p:nvSpPr>
        <p:spPr>
          <a:xfrm>
            <a:off x="4551578" y="2779776"/>
            <a:ext cx="3088538" cy="768096"/>
          </a:xfrm>
          <a:prstGeom prst="rect">
            <a:avLst/>
          </a:prstGeom>
          <a:noFill/>
          <a:ln/>
        </p:spPr>
        <p:txBody>
          <a:bodyPr wrap="square" lIns="0" tIns="0" rIns="0" bIns="0" rtlCol="0" anchor="t">
            <a:normAutofit/>
          </a:bodyPr>
          <a:lstStyle/>
          <a:p>
            <a:pPr indent="0" marL="0">
              <a:buNone/>
            </a:pPr>
            <a:r>
              <a:rPr lang="en-US" sz="2100" i="1" dirty="0">
                <a:solidFill>
                  <a:srgbClr val="FFFFFF"/>
                </a:solidFill>
                <a:latin typeface="Cambria" pitchFamily="34" charset="0"/>
                <a:ea typeface="Cambria" pitchFamily="34" charset="-122"/>
                <a:cs typeface="Cambria" pitchFamily="34" charset="-120"/>
              </a:rPr>
              <a:t>Silent mode in real ORs</a:t>
            </a:r>
            <a:endParaRPr lang="en-US" sz="2100" dirty="0"/>
          </a:p>
        </p:txBody>
      </p:sp>
      <p:sp>
        <p:nvSpPr>
          <p:cNvPr id="14" name="Text 10"/>
          <p:cNvSpPr txBox="1"/>
          <p:nvPr/>
        </p:nvSpPr>
        <p:spPr>
          <a:xfrm>
            <a:off x="4551578" y="3602736"/>
            <a:ext cx="3088538" cy="649224"/>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Compliance analytics per room and per team, no intervention. Builds the evidence base and the pilot relationships.</a:t>
            </a:r>
            <a:endParaRPr lang="en-US" sz="1300" dirty="0"/>
          </a:p>
        </p:txBody>
      </p:sp>
      <p:sp>
        <p:nvSpPr>
          <p:cNvPr id="15" name="Shape 11"/>
          <p:cNvSpPr/>
          <p:nvPr/>
        </p:nvSpPr>
        <p:spPr>
          <a:xfrm>
            <a:off x="8097317" y="2286000"/>
            <a:ext cx="3545738" cy="2148840"/>
          </a:xfrm>
          <a:prstGeom prst="roundRect">
            <a:avLst>
              <a:gd name="adj" fmla="val 7660"/>
            </a:avLst>
          </a:prstGeom>
          <a:solidFill>
            <a:srgbClr val="FFFFFF">
              <a:alpha val="5000"/>
            </a:srgbClr>
          </a:solidFill>
          <a:ln w="9525">
            <a:solidFill>
              <a:srgbClr val="FFFFFF">
                <a:alpha val="18000"/>
              </a:srgbClr>
            </a:solidFill>
            <a:prstDash val="solid"/>
          </a:ln>
        </p:spPr>
      </p:sp>
      <p:sp>
        <p:nvSpPr>
          <p:cNvPr id="16" name="Text 12"/>
          <p:cNvSpPr txBox="1"/>
          <p:nvPr/>
        </p:nvSpPr>
        <p:spPr>
          <a:xfrm>
            <a:off x="8325917" y="2487168"/>
            <a:ext cx="3088538" cy="228600"/>
          </a:xfrm>
          <a:prstGeom prst="rect">
            <a:avLst/>
          </a:prstGeom>
          <a:noFill/>
          <a:ln/>
        </p:spPr>
        <p:txBody>
          <a:bodyPr wrap="square" lIns="0" tIns="0" rIns="0" bIns="0" rtlCol="0" anchor="ctr"/>
          <a:lstStyle/>
          <a:p>
            <a:pPr indent="0" marL="0">
              <a:buNone/>
            </a:pPr>
            <a:r>
              <a:rPr lang="en-US" sz="900" spc="300" kern="0" dirty="0">
                <a:solidFill>
                  <a:srgbClr val="2DD4BF"/>
                </a:solidFill>
                <a:latin typeface="Courier New" pitchFamily="34" charset="0"/>
                <a:ea typeface="Courier New" pitchFamily="34" charset="-122"/>
                <a:cs typeface="Courier New" pitchFamily="34" charset="-120"/>
              </a:rPr>
              <a:t>STAGE 3</a:t>
            </a:r>
            <a:endParaRPr lang="en-US" sz="900" dirty="0"/>
          </a:p>
        </p:txBody>
      </p:sp>
      <p:sp>
        <p:nvSpPr>
          <p:cNvPr id="17" name="Text 13"/>
          <p:cNvSpPr txBox="1"/>
          <p:nvPr/>
        </p:nvSpPr>
        <p:spPr>
          <a:xfrm>
            <a:off x="8325917" y="2779776"/>
            <a:ext cx="3088538" cy="384048"/>
          </a:xfrm>
          <a:prstGeom prst="rect">
            <a:avLst/>
          </a:prstGeom>
          <a:noFill/>
          <a:ln/>
        </p:spPr>
        <p:txBody>
          <a:bodyPr wrap="square" lIns="0" tIns="0" rIns="0" bIns="0" rtlCol="0" anchor="t">
            <a:normAutofit/>
          </a:bodyPr>
          <a:lstStyle/>
          <a:p>
            <a:pPr indent="0" marL="0">
              <a:buNone/>
            </a:pPr>
            <a:r>
              <a:rPr lang="en-US" sz="2100" i="1" dirty="0">
                <a:solidFill>
                  <a:srgbClr val="FFFFFF"/>
                </a:solidFill>
                <a:latin typeface="Cambria" pitchFamily="34" charset="0"/>
                <a:ea typeface="Cambria" pitchFamily="34" charset="-122"/>
                <a:cs typeface="Cambria" pitchFamily="34" charset="-120"/>
              </a:rPr>
              <a:t>Live intervention</a:t>
            </a:r>
            <a:endParaRPr lang="en-US" sz="2100" dirty="0"/>
          </a:p>
        </p:txBody>
      </p:sp>
      <p:sp>
        <p:nvSpPr>
          <p:cNvPr id="18" name="Text 14"/>
          <p:cNvSpPr txBox="1"/>
          <p:nvPr/>
        </p:nvSpPr>
        <p:spPr>
          <a:xfrm>
            <a:off x="8325917" y="3218688"/>
            <a:ext cx="3088538" cy="1033272"/>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After clinical validation and regulatory clearance. Multilingual rooms, EHR integration, on-premise audio.</a:t>
            </a:r>
            <a:endParaRPr lang="en-US" sz="1300" dirty="0"/>
          </a:p>
        </p:txBody>
      </p:sp>
      <p:sp>
        <p:nvSpPr>
          <p:cNvPr id="19" name="Shape 15"/>
          <p:cNvSpPr/>
          <p:nvPr/>
        </p:nvSpPr>
        <p:spPr>
          <a:xfrm>
            <a:off x="548640" y="4663440"/>
            <a:ext cx="11094415" cy="1691640"/>
          </a:xfrm>
          <a:prstGeom prst="roundRect">
            <a:avLst>
              <a:gd name="adj" fmla="val 9730"/>
            </a:avLst>
          </a:prstGeom>
          <a:solidFill>
            <a:srgbClr val="FFFFFF">
              <a:alpha val="5000"/>
            </a:srgbClr>
          </a:solidFill>
          <a:ln w="9525">
            <a:solidFill>
              <a:srgbClr val="FFFFFF">
                <a:alpha val="18000"/>
              </a:srgbClr>
            </a:solidFill>
            <a:prstDash val="solid"/>
          </a:ln>
        </p:spPr>
      </p:sp>
      <p:sp>
        <p:nvSpPr>
          <p:cNvPr id="20" name="Text 16"/>
          <p:cNvSpPr txBox="1"/>
          <p:nvPr/>
        </p:nvSpPr>
        <p:spPr>
          <a:xfrm>
            <a:off x="777240" y="4864608"/>
            <a:ext cx="10637215" cy="384048"/>
          </a:xfrm>
          <a:prstGeom prst="rect">
            <a:avLst/>
          </a:prstGeom>
          <a:noFill/>
          <a:ln/>
        </p:spPr>
        <p:txBody>
          <a:bodyPr wrap="square" lIns="0" tIns="0" rIns="0" bIns="0" rtlCol="0" anchor="t">
            <a:normAutofit/>
          </a:bodyPr>
          <a:lstStyle/>
          <a:p>
            <a:pPr indent="0" marL="0">
              <a:buNone/>
            </a:pPr>
            <a:r>
              <a:rPr lang="en-US" sz="2000" i="1" dirty="0">
                <a:solidFill>
                  <a:srgbClr val="FFFFFF"/>
                </a:solidFill>
                <a:latin typeface="Cambria" pitchFamily="34" charset="0"/>
                <a:ea typeface="Cambria" pitchFamily="34" charset="-122"/>
                <a:cs typeface="Cambria" pitchFamily="34" charset="-120"/>
              </a:rPr>
              <a:t>What we say plainly</a:t>
            </a:r>
            <a:endParaRPr lang="en-US" sz="2000" dirty="0"/>
          </a:p>
        </p:txBody>
      </p:sp>
      <p:sp>
        <p:nvSpPr>
          <p:cNvPr id="21" name="Text 17"/>
          <p:cNvSpPr txBox="1"/>
          <p:nvPr/>
        </p:nvSpPr>
        <p:spPr>
          <a:xfrm>
            <a:off x="777240" y="5303520"/>
            <a:ext cx="106372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D9DEE7"/>
                </a:solidFill>
                <a:latin typeface="Calibri" pitchFamily="34" charset="0"/>
                <a:ea typeface="Calibri" pitchFamily="34" charset="-122"/>
                <a:cs typeface="Calibri" pitchFamily="34" charset="-120"/>
              </a:rPr>
              <a:t>Surgr is a prototype, not a medical device. Similar voices can share a speaker label. Hackathon accounts get two LLM Gateway requests a minute, so the deterministic engine does the real-time work and the record says when the narrative fell back to the local summary.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rnetwork/Test-It/surgr/deck/img/wordmark.png">    </p:cNvPr>
          <p:cNvPicPr>
            <a:picLocks noChangeAspect="1"/>
          </p:cNvPicPr>
          <p:nvPr/>
        </p:nvPicPr>
        <p:blipFill>
          <a:blip r:embed="rId2"/>
          <a:stretch>
            <a:fillRect/>
          </a:stretch>
        </p:blipFill>
        <p:spPr>
          <a:xfrm>
            <a:off x="548640" y="347472"/>
            <a:ext cx="1463040" cy="487375"/>
          </a:xfrm>
          <a:prstGeom prst="rect">
            <a:avLst/>
          </a:prstGeom>
        </p:spPr>
      </p:pic>
      <p:sp>
        <p:nvSpPr>
          <p:cNvPr id="3" name="Text 0"/>
          <p:cNvSpPr txBox="1"/>
          <p:nvPr/>
        </p:nvSpPr>
        <p:spPr>
          <a:xfrm>
            <a:off x="10545775" y="384048"/>
            <a:ext cx="1097280" cy="365760"/>
          </a:xfrm>
          <a:prstGeom prst="rect">
            <a:avLst/>
          </a:prstGeom>
          <a:noFill/>
          <a:ln/>
        </p:spPr>
        <p:txBody>
          <a:bodyPr wrap="square" lIns="0" tIns="0" rIns="0" bIns="0" rtlCol="0" anchor="ctr"/>
          <a:lstStyle/>
          <a:p>
            <a:pPr algn="r" indent="0" marL="0">
              <a:buNone/>
            </a:pPr>
            <a:r>
              <a:rPr lang="en-US" sz="1000" spc="300" kern="0" dirty="0">
                <a:solidFill>
                  <a:srgbClr val="6B7280"/>
                </a:solidFill>
                <a:latin typeface="Courier New" pitchFamily="34" charset="0"/>
                <a:ea typeface="Courier New" pitchFamily="34" charset="-122"/>
                <a:cs typeface="Courier New" pitchFamily="34" charset="-120"/>
              </a:rPr>
              <a:t>13</a:t>
            </a:r>
            <a:endParaRPr lang="en-US" sz="1000" dirty="0"/>
          </a:p>
        </p:txBody>
      </p:sp>
      <p:sp>
        <p:nvSpPr>
          <p:cNvPr id="5" name="Text 1"/>
          <p:cNvSpPr txBox="1"/>
          <p:nvPr/>
        </p:nvSpPr>
        <p:spPr>
          <a:xfrm>
            <a:off x="548640" y="1828800"/>
            <a:ext cx="10789920" cy="2377440"/>
          </a:xfrm>
          <a:prstGeom prst="rect">
            <a:avLst/>
          </a:prstGeom>
          <a:noFill/>
          <a:ln/>
        </p:spPr>
        <p:txBody>
          <a:bodyPr wrap="square" lIns="0" tIns="0" rIns="0" bIns="0" rtlCol="0" anchor="t">
            <a:normAutofit/>
          </a:bodyPr>
          <a:lstStyle/>
          <a:p>
            <a:pPr indent="0" marL="0">
              <a:buNone/>
            </a:pPr>
            <a:r>
              <a:rPr lang="en-US" sz="4600" i="1" dirty="0">
                <a:solidFill>
                  <a:srgbClr val="FFFFFF"/>
                </a:solidFill>
                <a:latin typeface="Cambria" pitchFamily="34" charset="0"/>
                <a:ea typeface="Cambria" pitchFamily="34" charset="-122"/>
                <a:cs typeface="Cambria" pitchFamily="34" charset="-120"/>
              </a:rPr>
              <a:t>Aviation cockpits have mandatory read-backs and a voice recorder. Operating rooms have neither.</a:t>
            </a:r>
            <a:endParaRPr lang="en-US" sz="4600" dirty="0"/>
          </a:p>
        </p:txBody>
      </p:sp>
      <p:sp>
        <p:nvSpPr>
          <p:cNvPr id="6" name="Text 2"/>
          <p:cNvSpPr txBox="1"/>
          <p:nvPr/>
        </p:nvSpPr>
        <p:spPr>
          <a:xfrm>
            <a:off x="548640" y="4343400"/>
            <a:ext cx="10789920" cy="640080"/>
          </a:xfrm>
          <a:prstGeom prst="rect">
            <a:avLst/>
          </a:prstGeom>
          <a:noFill/>
          <a:ln/>
        </p:spPr>
        <p:txBody>
          <a:bodyPr wrap="square" lIns="0" tIns="0" rIns="0" bIns="0" rtlCol="0" anchor="ctr"/>
          <a:lstStyle/>
          <a:p>
            <a:pPr indent="0" marL="0">
              <a:buNone/>
            </a:pPr>
            <a:r>
              <a:rPr lang="en-US" sz="3000" i="1" dirty="0">
                <a:solidFill>
                  <a:srgbClr val="2DD4BF"/>
                </a:solidFill>
                <a:latin typeface="Cambria" pitchFamily="34" charset="0"/>
                <a:ea typeface="Cambria" pitchFamily="34" charset="-122"/>
                <a:cs typeface="Cambria" pitchFamily="34" charset="-120"/>
              </a:rPr>
              <a:t>Surgr gives them both.</a:t>
            </a:r>
            <a:endParaRPr lang="en-US" sz="3000" dirty="0"/>
          </a:p>
        </p:txBody>
      </p:sp>
      <p:sp>
        <p:nvSpPr>
          <p:cNvPr id="7" name="Text 3"/>
          <p:cNvSpPr txBox="1"/>
          <p:nvPr/>
        </p:nvSpPr>
        <p:spPr>
          <a:xfrm>
            <a:off x="548640" y="5806440"/>
            <a:ext cx="10789920" cy="320040"/>
          </a:xfrm>
          <a:prstGeom prst="rect">
            <a:avLst/>
          </a:prstGeom>
          <a:noFill/>
          <a:ln/>
        </p:spPr>
        <p:txBody>
          <a:bodyPr wrap="square" lIns="0" tIns="0" rIns="0" bIns="0" rtlCol="0" anchor="ctr"/>
          <a:lstStyle/>
          <a:p>
            <a:pPr indent="0" marL="0">
              <a:buNone/>
            </a:pPr>
            <a:r>
              <a:rPr lang="en-US" sz="1000" spc="200" kern="0" dirty="0">
                <a:solidFill>
                  <a:srgbClr val="6B7280"/>
                </a:solidFill>
                <a:latin typeface="Courier New" pitchFamily="34" charset="0"/>
                <a:ea typeface="Courier New" pitchFamily="34" charset="-122"/>
                <a:cs typeface="Courier New" pitchFamily="34" charset="-120"/>
              </a:rPr>
              <a:t>LIVE APP · SEE SUBMISSION LINK   ·   GITHUB.COM/MRNETWORK0001/SURGR   ·   BUILT ON ASSEMBLYAI</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Surgr — AssemblyAI Voice Agent Hackathon 2026</dc:title>
  <dc:subject>PptxGenJS Presentation</dc:subject>
  <dc:creator>Surgr</dc:creator>
  <cp:lastModifiedBy>Surgr</cp:lastModifiedBy>
  <cp:revision>1</cp:revision>
  <dcterms:created xsi:type="dcterms:W3CDTF">2026-09-28T03:29:32Z</dcterms:created>
  <dcterms:modified xsi:type="dcterms:W3CDTF">2026-09-28T03:29:32Z</dcterms:modified>
</cp:coreProperties>
</file>